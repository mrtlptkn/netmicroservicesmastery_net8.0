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115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7460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41B4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141B4D">
              <a:alpha val="7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SUNUMU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Kafka ve RabbitMQ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 Farklar, Kullanım Senaryoları ve MassTransit İlişkisi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566928" cy="56692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8" name="Image 0" descr="/home/claude/pptx_work/icons/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23" y="4342303"/>
            <a:ext cx="294803" cy="29480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4818888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874520" y="4206240"/>
            <a:ext cx="566928" cy="56692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1" name="Image 1" descr="/home/claude/pptx_work/icons/lista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0583" y="434230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00200" y="4818888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926080" y="4206240"/>
            <a:ext cx="566928" cy="56692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4" name="Image 2" descr="/home/claude/pptx_work/icons/shuff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2143" y="4342303"/>
            <a:ext cx="294803" cy="29480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651760" y="4818888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MassTransit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3977640" y="4206240"/>
            <a:ext cx="566928" cy="56692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7" name="Image 3" descr="/home/claude/pptx_work/icons/gau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3703" y="4342303"/>
            <a:ext cx="294803" cy="29480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703320" y="4818888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Performans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5029200" y="4206240"/>
            <a:ext cx="566928" cy="56692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20" name="Image 4" descr="/home/claude/pptx_work/icons/c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5263" y="4342303"/>
            <a:ext cx="294803" cy="294803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754880" y="4818888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Driver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82296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Microservices Mastery  —  Neominal Akademi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GÜNDEM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 Derste Neler Var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x_work/icons/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" y="20738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71907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874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1: Temel Mimariler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267712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ve RabbitMQ'nun iç yapısı, log vs queue modeli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291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pptx_work/icons/gau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" y="344545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0080" y="309067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1508760" y="3246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2: Ne Zaman Hangisi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508760" y="3639312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 senaryoları, proje uygunluğu, performans ve mesaj garantileri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6634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home/claude/pptx_work/icons/shuff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699" y="481705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" y="446227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508760" y="4617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3: MassTransit İlişkisi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508760" y="5010912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MassTransit nedir, her iki broker ile entegrasyonu, native driver karşılaştırması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vs RabbitMQ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54396" y="1371600"/>
            <a:ext cx="1280160" cy="128016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4" name="Image 0" descr="/home/claude/pptx_work/icons/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436" y="16916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28803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24612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Temel Mimariler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425196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ve RabbitMQ'nun iç yapısı ve temel felsefe farkı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Kafka Mimarisi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Kafka, mesajları sırayla bir “log” gibi diske yazan ve saklayan, dağıtık bir event streaming platformudur.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49240" cy="1463040"/>
          </a:xfrm>
          <a:prstGeom prst="roundRect">
            <a:avLst>
              <a:gd name="adj" fmla="val 3750"/>
            </a:avLst>
          </a:prstGeom>
          <a:solidFill>
            <a:srgbClr val="EEF3F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1284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pptx_work/icons/lista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50008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216712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&amp; Partition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74320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Event'ler topic'lerde toplanır; paralellik için partition'lara bölünür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263640" y="2011680"/>
            <a:ext cx="5349240" cy="1463040"/>
          </a:xfrm>
          <a:prstGeom prst="roundRect">
            <a:avLst>
              <a:gd name="adj" fmla="val 3750"/>
            </a:avLst>
          </a:prstGeom>
          <a:solidFill>
            <a:srgbClr val="EEF3FC"/>
          </a:solidFill>
          <a:ln/>
        </p:spPr>
      </p:sp>
      <p:sp>
        <p:nvSpPr>
          <p:cNvPr id="11" name="Shape 8"/>
          <p:cNvSpPr/>
          <p:nvPr/>
        </p:nvSpPr>
        <p:spPr>
          <a:xfrm>
            <a:off x="6492240" y="221284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pptx_work/icons/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35000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32320" y="216712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6492240" y="274320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partition içindeki mesajın sıra numarası — consumer kaldığı yerden devam eder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48640" y="3657600"/>
            <a:ext cx="5349240" cy="1463040"/>
          </a:xfrm>
          <a:prstGeom prst="roundRect">
            <a:avLst>
              <a:gd name="adj" fmla="val 3750"/>
            </a:avLst>
          </a:prstGeom>
          <a:solidFill>
            <a:srgbClr val="EEF3FC"/>
          </a:solidFill>
          <a:ln/>
        </p:spPr>
      </p:sp>
      <p:sp>
        <p:nvSpPr>
          <p:cNvPr id="16" name="Shape 12"/>
          <p:cNvSpPr/>
          <p:nvPr/>
        </p:nvSpPr>
        <p:spPr>
          <a:xfrm>
            <a:off x="777240" y="385876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pptx_work/icons/user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99592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17320" y="381304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Group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438912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topic'i birlikte tüketen consumer'lar; partition'lar aralarında paylaştırılır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263640" y="3657600"/>
            <a:ext cx="5349240" cy="1463040"/>
          </a:xfrm>
          <a:prstGeom prst="roundRect">
            <a:avLst>
              <a:gd name="adj" fmla="val 3750"/>
            </a:avLst>
          </a:prstGeom>
          <a:solidFill>
            <a:srgbClr val="EEF3FC"/>
          </a:solidFill>
          <a:ln/>
        </p:spPr>
      </p:sp>
      <p:sp>
        <p:nvSpPr>
          <p:cNvPr id="21" name="Shape 16"/>
          <p:cNvSpPr/>
          <p:nvPr/>
        </p:nvSpPr>
        <p:spPr>
          <a:xfrm>
            <a:off x="6492240" y="385876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/home/claude/pptx_work/icons/serv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3995928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132320" y="381304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&amp; Replication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6492240" y="438912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Cluster'daki her node bir broker'dır; replication factor veri kaybını önler</a:t>
            </a:r>
            <a:endParaRPr lang="en-US" sz="95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Önemli: Kafka'da bir mesaj tüketilse bile silinmez — retention süresi kadar (örn. 7 gün) saklanır ve tekrar okunabilir (replay).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vs RabbitMQ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RabbitMQ Mimarisi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RabbitMQ, AMQP protokolünü kullanan klasik bir mesaj kuyruğudur (message broker) — mesajlar tüketilip onaylanınca kuyruktan silinir.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49240" cy="1463040"/>
          </a:xfrm>
          <a:prstGeom prst="roundRect">
            <a:avLst>
              <a:gd name="adj" fmla="val 3750"/>
            </a:avLst>
          </a:prstGeom>
          <a:solidFill>
            <a:srgbClr val="EEF3F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1284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pptx_work/icons/shuff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50008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216712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74320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Producer'ın mesajı gönderdiği, yönlendirme kararını veren bileşen (direct/topic/fanout/headers)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263640" y="2011680"/>
            <a:ext cx="5349240" cy="1463040"/>
          </a:xfrm>
          <a:prstGeom prst="roundRect">
            <a:avLst>
              <a:gd name="adj" fmla="val 3750"/>
            </a:avLst>
          </a:prstGeom>
          <a:solidFill>
            <a:srgbClr val="EEF3FC"/>
          </a:solidFill>
          <a:ln/>
        </p:spPr>
      </p:sp>
      <p:sp>
        <p:nvSpPr>
          <p:cNvPr id="11" name="Shape 8"/>
          <p:cNvSpPr/>
          <p:nvPr/>
        </p:nvSpPr>
        <p:spPr>
          <a:xfrm>
            <a:off x="6492240" y="221284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pptx_work/icons/lista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35000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32320" y="216712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6492240" y="274320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Mesajların consumer tarafından işlenene kadar biriktiği yapı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48640" y="3657600"/>
            <a:ext cx="5349240" cy="1463040"/>
          </a:xfrm>
          <a:prstGeom prst="roundRect">
            <a:avLst>
              <a:gd name="adj" fmla="val 3750"/>
            </a:avLst>
          </a:prstGeom>
          <a:solidFill>
            <a:srgbClr val="EEF3FC"/>
          </a:solidFill>
          <a:ln/>
        </p:spPr>
      </p:sp>
      <p:sp>
        <p:nvSpPr>
          <p:cNvPr id="16" name="Shape 12"/>
          <p:cNvSpPr/>
          <p:nvPr/>
        </p:nvSpPr>
        <p:spPr>
          <a:xfrm>
            <a:off x="777240" y="385876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pptx_work/icons/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99592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17320" y="381304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&amp; Routing Key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438912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Exchange'in mesajı hangi kuyruğa yönlendireceğini belirleyen kurallar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263640" y="3657600"/>
            <a:ext cx="5349240" cy="1463040"/>
          </a:xfrm>
          <a:prstGeom prst="roundRect">
            <a:avLst>
              <a:gd name="adj" fmla="val 3750"/>
            </a:avLst>
          </a:prstGeom>
          <a:solidFill>
            <a:srgbClr val="EEF3FC"/>
          </a:solidFill>
          <a:ln/>
        </p:spPr>
      </p:sp>
      <p:sp>
        <p:nvSpPr>
          <p:cNvPr id="21" name="Shape 16"/>
          <p:cNvSpPr/>
          <p:nvPr/>
        </p:nvSpPr>
        <p:spPr>
          <a:xfrm>
            <a:off x="6492240" y="385876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/home/claude/pptx_work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3995928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132320" y="381304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 / Nack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6492240" y="438912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Consumer'ın mesajı başarıyla işlediğini ya da işleyemediğini broker'a bildirmesi</a:t>
            </a:r>
            <a:endParaRPr lang="en-US" sz="95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Önemli: RabbitMQ, mesajı doğrudan consumer'a “iter” (push model) — Kafka'nın aksine consumer'ın çekmesini beklemez.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vs RabbitMQ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FARK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Temel Model Farkı: Log vs Queue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sistemin tüm farkları, aslında tek bir temel mimari kararından doğar: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94960" cy="2743200"/>
          </a:xfrm>
          <a:prstGeom prst="roundRect">
            <a:avLst>
              <a:gd name="adj" fmla="val 2333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574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— Kalıcı Log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514600"/>
            <a:ext cx="594360" cy="457200"/>
          </a:xfrm>
          <a:prstGeom prst="rect">
            <a:avLst/>
          </a:prstGeom>
          <a:solidFill>
            <a:srgbClr val="3B4A9E"/>
          </a:solidFill>
          <a:ln w="6350">
            <a:solidFill>
              <a:srgbClr val="00B8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81328" y="2514600"/>
            <a:ext cx="594360" cy="457200"/>
          </a:xfrm>
          <a:prstGeom prst="rect">
            <a:avLst/>
          </a:prstGeom>
          <a:solidFill>
            <a:srgbClr val="3B4A9E"/>
          </a:solidFill>
          <a:ln w="6350">
            <a:solidFill>
              <a:srgbClr val="00B8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39696" y="2514600"/>
            <a:ext cx="594360" cy="457200"/>
          </a:xfrm>
          <a:prstGeom prst="rect">
            <a:avLst/>
          </a:prstGeom>
          <a:solidFill>
            <a:srgbClr val="3B4A9E"/>
          </a:solidFill>
          <a:ln w="6350">
            <a:solidFill>
              <a:srgbClr val="00B8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98064" y="2514600"/>
            <a:ext cx="594360" cy="457200"/>
          </a:xfrm>
          <a:prstGeom prst="rect">
            <a:avLst/>
          </a:prstGeom>
          <a:solidFill>
            <a:srgbClr val="3B4A9E"/>
          </a:solidFill>
          <a:ln w="6350">
            <a:solidFill>
              <a:srgbClr val="00B8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2514600"/>
            <a:ext cx="594360" cy="457200"/>
          </a:xfrm>
          <a:prstGeom prst="rect">
            <a:avLst/>
          </a:prstGeom>
          <a:solidFill>
            <a:srgbClr val="3B4A9E"/>
          </a:solidFill>
          <a:ln w="6350">
            <a:solidFill>
              <a:srgbClr val="00B8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2514600"/>
            <a:ext cx="594360" cy="457200"/>
          </a:xfrm>
          <a:prstGeom prst="rect">
            <a:avLst/>
          </a:prstGeom>
          <a:solidFill>
            <a:srgbClr val="2A3578"/>
          </a:solidFill>
          <a:ln w="6350">
            <a:solidFill>
              <a:srgbClr val="00B8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73168" y="2514600"/>
            <a:ext cx="594360" cy="457200"/>
          </a:xfrm>
          <a:prstGeom prst="rect">
            <a:avLst/>
          </a:prstGeom>
          <a:solidFill>
            <a:srgbClr val="2A3578"/>
          </a:solidFill>
          <a:ln w="6350">
            <a:solidFill>
              <a:srgbClr val="00B8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17320" y="3108960"/>
            <a:ext cx="320040" cy="256032"/>
          </a:xfrm>
          <a:prstGeom prst="rightArrow">
            <a:avLst/>
          </a:prstGeom>
          <a:solidFill>
            <a:srgbClr val="00B8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429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Grup A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(offset 2)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383280" y="3108960"/>
            <a:ext cx="320040" cy="256032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880360" y="3429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Grup B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(offset 5)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0233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iki grup, aynı log üzerinde BAĞIMSIZ konumdan (offset) okur — mesaj silinmez.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1920240"/>
            <a:ext cx="5394960" cy="2743200"/>
          </a:xfrm>
          <a:prstGeom prst="roundRect">
            <a:avLst>
              <a:gd name="adj" fmla="val 2333"/>
            </a:avLst>
          </a:prstGeom>
          <a:solidFill>
            <a:srgbClr val="EEF3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92240" y="20574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— Tüketilen Kuyruk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37960" y="2514600"/>
            <a:ext cx="5943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Shape 20"/>
          <p:cNvSpPr/>
          <p:nvPr/>
        </p:nvSpPr>
        <p:spPr>
          <a:xfrm>
            <a:off x="7223760" y="2514600"/>
            <a:ext cx="5943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Shape 21"/>
          <p:cNvSpPr/>
          <p:nvPr/>
        </p:nvSpPr>
        <p:spPr>
          <a:xfrm>
            <a:off x="7909560" y="2514600"/>
            <a:ext cx="5943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Shape 22"/>
          <p:cNvSpPr/>
          <p:nvPr/>
        </p:nvSpPr>
        <p:spPr>
          <a:xfrm>
            <a:off x="8732520" y="2587752"/>
            <a:ext cx="457200" cy="320040"/>
          </a:xfrm>
          <a:prstGeom prst="rightArrow">
            <a:avLst/>
          </a:prstGeom>
          <a:solidFill>
            <a:srgbClr val="00B8D9"/>
          </a:solidFill>
          <a:ln/>
        </p:spPr>
      </p:sp>
      <p:sp>
        <p:nvSpPr>
          <p:cNvPr id="25" name="Shape 23"/>
          <p:cNvSpPr/>
          <p:nvPr/>
        </p:nvSpPr>
        <p:spPr>
          <a:xfrm>
            <a:off x="9326880" y="2468880"/>
            <a:ext cx="1920240" cy="54864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326880" y="24688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537960" y="320040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İşlenip ack'lenen mesaj kuyruktan SİLİNİR.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365760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yüzden aynı mesajı birden fazla “bağımsız” consumer grubunun tüketmesi Kafka'daki gibi doğal değildir.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937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tek fark, aşağıdaki tüm kullanım senaryosu ve performans farklarının temelini oluşturur.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vs RabbitMQ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54396" y="1371600"/>
            <a:ext cx="1280160" cy="128016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4" name="Image 0" descr="/home/claude/pptx_work/icons/gau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436" y="16916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28803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02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24612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 Zaman Hangisi?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425196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 senaryoları, proje uygunluğu ve performans farkları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SENARYOLAR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Kullanım Senaryoları Karşılaştırması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675120" y="1508760"/>
            <a:ext cx="2377440" cy="384048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75120" y="15087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235440" y="1508760"/>
            <a:ext cx="2377440" cy="384048"/>
          </a:xfrm>
          <a:prstGeom prst="roundRect">
            <a:avLst>
              <a:gd name="adj" fmla="val 9524"/>
            </a:avLst>
          </a:prstGeom>
          <a:solidFill>
            <a:srgbClr val="00B8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235440" y="15087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19659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sourcing / audit log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6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235440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496312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49631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ve metrik toplama (aggregation)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24963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6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24963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026664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02666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processing (Kafka Streams, ksqlDB)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302666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6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302666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557016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355701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hacimli IoT / telemetri verisi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355701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6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235440" y="355701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087368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" y="408736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iş kuyruğu (e-posta, resim işleme)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40873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235440" y="40873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6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617720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31520" y="461772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 / request-reply senaryosu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675120" y="4617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235440" y="4617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6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5148072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31520" y="514807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Karmaşık routing (topic/header bazlı)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675120" y="51480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235440" y="51480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6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5678424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31520" y="567842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Öncelikli (priority) veya gecikmeli mesaj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6675120" y="567842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9235440" y="567842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6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vs RabbitMQ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SENARYOLAR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Hangi Proje Tiplerine Uygun?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114800"/>
          </a:xfrm>
          <a:prstGeom prst="roundRect">
            <a:avLst>
              <a:gd name="adj" fmla="val 1556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91640"/>
            <a:ext cx="594360" cy="59436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6" name="Image 0" descr="/home/claude/pptx_work/icons/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184023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7373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İçin Uygun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77240" y="2423160"/>
            <a:ext cx="292608" cy="29260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9" name="Image 1" descr="/home/claude/pptx_work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2" y="2481682"/>
            <a:ext cx="175565" cy="17556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2350008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veri / analytics platformları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777240" y="3172968"/>
            <a:ext cx="292608" cy="29260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2" name="Image 2" descr="/home/claude/pptx_work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2" y="3231490"/>
            <a:ext cx="175565" cy="17556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3099816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sayıda consumer'ın aynı event'i bağımsız tüketmesi gereken sistemler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777240" y="3922776"/>
            <a:ext cx="292608" cy="29260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5" name="Image 3" descr="/home/claude/pptx_work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2" y="3981298"/>
            <a:ext cx="175565" cy="17556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88720" y="3849624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mikroservis mimarileri (yüksek hacim)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777240" y="4672584"/>
            <a:ext cx="292608" cy="29260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8" name="Image 4" descr="/home/claude/pptx_work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2" y="4731106"/>
            <a:ext cx="175565" cy="17556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188720" y="4599432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Finansal / e-ticaret event sourcing sistemleri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6263640" y="1508760"/>
            <a:ext cx="5394960" cy="4114800"/>
          </a:xfrm>
          <a:prstGeom prst="roundRect">
            <a:avLst>
              <a:gd name="adj" fmla="val 1556"/>
            </a:avLst>
          </a:prstGeom>
          <a:solidFill>
            <a:srgbClr val="EEF3FC"/>
          </a:solidFill>
          <a:ln/>
        </p:spPr>
      </p:sp>
      <p:sp>
        <p:nvSpPr>
          <p:cNvPr id="21" name="Shape 14"/>
          <p:cNvSpPr/>
          <p:nvPr/>
        </p:nvSpPr>
        <p:spPr>
          <a:xfrm>
            <a:off x="6537960" y="16916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5" descr="/home/claude/pptx_work/icons/lista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6550" y="1840230"/>
            <a:ext cx="297180" cy="29718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315200" y="17373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İçin Uygun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6492240" y="242316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6" descr="/home/claude/pptx_work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0762" y="2481682"/>
            <a:ext cx="175565" cy="175565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6903720" y="2350008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mikroservis arası asenkron iletişim</a:t>
            </a:r>
            <a:endParaRPr lang="en-US" sz="1000" dirty="0"/>
          </a:p>
        </p:txBody>
      </p:sp>
      <p:sp>
        <p:nvSpPr>
          <p:cNvPr id="27" name="Shape 18"/>
          <p:cNvSpPr/>
          <p:nvPr/>
        </p:nvSpPr>
        <p:spPr>
          <a:xfrm>
            <a:off x="6492240" y="3172968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7" descr="/home/claude/pptx_work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0762" y="3231490"/>
            <a:ext cx="175565" cy="175565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6903720" y="3099816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süreç otomasyonu (workflow) sistemleri</a:t>
            </a:r>
            <a:endParaRPr lang="en-US" sz="1000" dirty="0"/>
          </a:p>
        </p:txBody>
      </p:sp>
      <p:sp>
        <p:nvSpPr>
          <p:cNvPr id="30" name="Shape 20"/>
          <p:cNvSpPr/>
          <p:nvPr/>
        </p:nvSpPr>
        <p:spPr>
          <a:xfrm>
            <a:off x="6492240" y="392277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8" descr="/home/claude/pptx_work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0762" y="3981298"/>
            <a:ext cx="175565" cy="175565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6903720" y="3849624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Düşük-orta hacimli, karmaşık mesaj yönlendirme gereken sistemler</a:t>
            </a:r>
            <a:endParaRPr lang="en-US" sz="1000" dirty="0"/>
          </a:p>
        </p:txBody>
      </p:sp>
      <p:sp>
        <p:nvSpPr>
          <p:cNvPr id="33" name="Shape 22"/>
          <p:cNvSpPr/>
          <p:nvPr/>
        </p:nvSpPr>
        <p:spPr>
          <a:xfrm>
            <a:off x="6492240" y="4672584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9" descr="/home/claude/pptx_work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0762" y="4731106"/>
            <a:ext cx="175565" cy="175565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6903720" y="4599432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 prototipleme (Kafka'ya göre kurulumu daha basit)</a:t>
            </a:r>
            <a:endParaRPr lang="en-US" sz="1000" dirty="0"/>
          </a:p>
        </p:txBody>
      </p:sp>
      <p:sp>
        <p:nvSpPr>
          <p:cNvPr id="36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vs RabbitMQ</a:t>
            </a:r>
            <a:endParaRPr lang="en-US" sz="900" dirty="0"/>
          </a:p>
        </p:txBody>
      </p:sp>
      <p:sp>
        <p:nvSpPr>
          <p:cNvPr id="3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SENARYOLAR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Performans ve Ölçeklenebilirlik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931920" y="1600200"/>
            <a:ext cx="3566160" cy="41148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931920" y="16002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589520" y="1600200"/>
            <a:ext cx="4023360" cy="411480"/>
          </a:xfrm>
          <a:prstGeom prst="roundRect">
            <a:avLst>
              <a:gd name="adj" fmla="val 8889"/>
            </a:avLst>
          </a:prstGeom>
          <a:solidFill>
            <a:srgbClr val="00B8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89520" y="16002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1064240" cy="841248"/>
          </a:xfrm>
          <a:prstGeom prst="roundRect">
            <a:avLst>
              <a:gd name="adj" fmla="val 3261"/>
            </a:avLst>
          </a:prstGeom>
          <a:solidFill>
            <a:srgbClr val="EEF3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103120"/>
            <a:ext cx="31546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2103120"/>
            <a:ext cx="3520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yüksek (milyonlarca mesaj/sn) — sequential disk I/O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2103120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 düzey (onbinlerce mesaj/sn)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11064240" cy="841248"/>
          </a:xfrm>
          <a:prstGeom prst="roundRect">
            <a:avLst>
              <a:gd name="adj" fmla="val 3261"/>
            </a:avLst>
          </a:prstGeom>
          <a:solidFill>
            <a:srgbClr val="EEF3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017520"/>
            <a:ext cx="31546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Ölçekleme yöntemi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3017520"/>
            <a:ext cx="3520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sayısı artırılarak yatay ölçekleme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3017520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+ quorum queue ile ölçeklenir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11064240" cy="841248"/>
          </a:xfrm>
          <a:prstGeom prst="roundRect">
            <a:avLst>
              <a:gd name="adj" fmla="val 3261"/>
            </a:avLst>
          </a:prstGeom>
          <a:solidFill>
            <a:srgbClr val="EEF3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3931920"/>
            <a:ext cx="31546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Tekil mesaj gecikmesi (latency)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3931920"/>
            <a:ext cx="3520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nedeniyle biraz daha yüksek olabilir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3931920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Genelde daha düşük — anlık push modeli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11064240" cy="841248"/>
          </a:xfrm>
          <a:prstGeom prst="roundRect">
            <a:avLst>
              <a:gd name="adj" fmla="val 3261"/>
            </a:avLst>
          </a:prstGeom>
          <a:solidFill>
            <a:srgbClr val="EEF3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4846320"/>
            <a:ext cx="31546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Depolama modeli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931920" y="4846320"/>
            <a:ext cx="3520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tabanlı, retention süresi kadar kalıcı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7589520" y="4846320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Bellek öncelikli, tüketilince silinir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vs RabbitMQ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SENARYOLAR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Mesaj Garantileri ve Sıralama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2286000"/>
          </a:xfrm>
          <a:prstGeom prst="roundRect">
            <a:avLst>
              <a:gd name="adj" fmla="val 2800"/>
            </a:avLst>
          </a:prstGeom>
          <a:solidFill>
            <a:srgbClr val="EEF3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916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x_work/icons/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184023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373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3172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Sıralama garantisi sadece PARTITION içinde geçerlidir (topic genelinde değil). At-least-once varsayılan; idempotent producer + transactional API ile exactly-once mümkündür.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63640" y="1508760"/>
            <a:ext cx="5394960" cy="2286000"/>
          </a:xfrm>
          <a:prstGeom prst="roundRect">
            <a:avLst>
              <a:gd name="adj" fmla="val 2800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1691640"/>
            <a:ext cx="594360" cy="59436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1" name="Image 1" descr="/home/claude/pptx_work/icons/lista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830" y="184023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17373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233172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Sıralama garantisi tek bir QUEUE'da, tek consumer ile geçerlidir. Publisher confirms + consumer ack ile at-least-once sağlanır; exactly-once native desteklenmez, uygulama seviyesinde dedup gerekir.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FF6E5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77240" y="402336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sonuç: Sıkı sıralama gerektiren bir akış Kafka'da tek partition'a, RabbitMQ'da tek queue + tek consumer'a sınırlandırılmalıdır — ikisinde de “paralellik ile sıralama” birbirine karşı bir trade-off'tur.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vs RabbitMQ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54396" y="1371600"/>
            <a:ext cx="1280160" cy="128016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4" name="Image 0" descr="/home/claude/pptx_work/icons/shuff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436" y="16916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28803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03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24612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MassTransit İlişkisi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425196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Broker-agnostic mesajlaşma ve native driver karşılaştırması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MASSTRANSIT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MassTransit Nedir ve Neden Kullanılır?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için geliştirilmiş, uygulama kodunu belirli bir mesaj broker'ına sıkı bağlamadan mesajlaşma yazmayı sağlayan bir abstraction (soyutlama) framework'üdür.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EEF3FC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331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pptx_work/icons/exch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2446020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229514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/ Consume / Send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86207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Broker'dan bağımsız, tutarlı bir mesajlaşma API'si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297680" y="214884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EEF3FC"/>
          </a:solidFill>
          <a:ln/>
        </p:spPr>
      </p:sp>
      <p:sp>
        <p:nvSpPr>
          <p:cNvPr id="11" name="Shape 8"/>
          <p:cNvSpPr/>
          <p:nvPr/>
        </p:nvSpPr>
        <p:spPr>
          <a:xfrm>
            <a:off x="4480560" y="2331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pptx_work/icons/ro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860" y="244602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029200" y="229514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 State Machine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4480560" y="286207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süreli iş süreçlerini (örn. sipariş akışı) durum makinesi olarak yönetme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8046720" y="214884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EEF3FC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0" y="2331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pptx_work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3900" y="2446020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778240" y="229514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Pattern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8229600" y="286207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Veritabanı işlemi ile mesaj gönderimini atomik hale getirme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48640" y="365760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EEF3FC"/>
          </a:solidFill>
          <a:ln/>
        </p:spPr>
      </p:sp>
      <p:sp>
        <p:nvSpPr>
          <p:cNvPr id="21" name="Shape 16"/>
          <p:cNvSpPr/>
          <p:nvPr/>
        </p:nvSpPr>
        <p:spPr>
          <a:xfrm>
            <a:off x="731520" y="3840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/home/claude/pptx_work/icons/syn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" y="3954780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280160" y="380390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/ Circuit Breaker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731520" y="437083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Polly benzeri dayanıklılık pattern'leri hazır gelir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4297680" y="365760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EEF3FC"/>
          </a:solidFill>
          <a:ln/>
        </p:spPr>
      </p:sp>
      <p:sp>
        <p:nvSpPr>
          <p:cNvPr id="26" name="Shape 20"/>
          <p:cNvSpPr/>
          <p:nvPr/>
        </p:nvSpPr>
        <p:spPr>
          <a:xfrm>
            <a:off x="4480560" y="3840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4" descr="/home/claude/pptx_work/icons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4860" y="3954780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029200" y="380390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Harness</a:t>
            </a:r>
            <a:endParaRPr lang="en-US" sz="1050" dirty="0"/>
          </a:p>
        </p:txBody>
      </p:sp>
      <p:sp>
        <p:nvSpPr>
          <p:cNvPr id="29" name="Text 22"/>
          <p:cNvSpPr txBox="1"/>
          <p:nvPr/>
        </p:nvSpPr>
        <p:spPr>
          <a:xfrm>
            <a:off x="4480560" y="437083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broker olmadan, in-memory ortamda uçtan uca test yazabilme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8046720" y="365760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EEF3FC"/>
          </a:solidFill>
          <a:ln/>
        </p:spPr>
      </p:sp>
      <p:sp>
        <p:nvSpPr>
          <p:cNvPr id="31" name="Shape 24"/>
          <p:cNvSpPr/>
          <p:nvPr/>
        </p:nvSpPr>
        <p:spPr>
          <a:xfrm>
            <a:off x="8229600" y="3840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5" descr="/home/claude/pptx_work/icons/cog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3954780"/>
            <a:ext cx="228600" cy="22860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778240" y="380390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Çoklu Broker Desteği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8229600" y="437083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RabbitMQ, Kafka, Azure Service Bus, Amazon SQS — aynı kod tabanıyla</a:t>
            </a:r>
            <a:endParaRPr lang="en-US" sz="85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vs RabbitMQ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MASSTRANSIT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MassTransit + RabbitMQ: Native Transport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RabbitMQ, MassTransit'in ilk ve en olgun desteklediği transport'tur — exchange/queue/binding topolojisi otomatik oluşturulur.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3063240"/>
          </a:xfrm>
          <a:prstGeom prst="roundRect">
            <a:avLst>
              <a:gd name="adj" fmla="val 1791"/>
            </a:avLst>
          </a:prstGeom>
          <a:solidFill>
            <a:srgbClr val="141B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762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Program.cs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87168"/>
            <a:ext cx="106070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builder.Services.AddMassTransit(x =&gt;
{
</a:t>
            </a:r>
            <a:r>
              <a:rPr lang="en-US" sz="1200" dirty="0">
                <a:solidFill>
                  <a:srgbClr val="8891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x.AddConsumer&lt;OrderCreatedConsumer&gt;();
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x.UsingRabbitMq((context, cfg) =&gt; {
</a:t>
            </a:r>
            <a:r>
              <a:rPr lang="en-US" sz="1200" dirty="0">
                <a:solidFill>
                  <a:srgbClr val="8891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cfg.Host("localhost", "/", h =&gt; {
            h.Username("neominal");
            h.Password("neominal_pass");
        });
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cfg.ConfigureEndpoints(context);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28523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birkaç satır, RabbitMQ'da gerekli tüm exchange/queue/binding yapısını otomatik kurar — elle topoloji tanımlamaya gerek kalmaz.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vs RabbitMQ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MASSTRANSIT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MassTransit + Kafka: Rider Kavramı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bir “transport” olarak değil, “Rider” olarak entegre edilir — çünkü Kafka'nın partition/consumer group modeli, klasik pub/sub kuyruk modelinden farklıdır.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64240" cy="2514600"/>
          </a:xfrm>
          <a:prstGeom prst="roundRect">
            <a:avLst>
              <a:gd name="adj" fmla="val 2182"/>
            </a:avLst>
          </a:prstGeom>
          <a:solidFill>
            <a:srgbClr val="141B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22199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Program.cs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32888"/>
            <a:ext cx="10607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x.AddRider(rider =&gt;
{
</a:t>
            </a:r>
            <a:r>
              <a:rPr lang="en-US" sz="1100" dirty="0">
                <a:solidFill>
                  <a:srgbClr val="8891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rider.AddProducer&lt;OrderCreated&gt;("demo-events");
    rider.AddConsumer&lt;OrderCreatedConsumer&gt;();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rider.UsingKafka((context, k) =&gt;
    {
        k.Host("localhost:19094");
        k.TopicEndpoint&lt;OrderCreated&gt;("demo-events", "demo-consumer-group",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 =&gt; e.ConfigureConsumer&lt;OrderCreatedConsumer&gt;(context));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8006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FF6E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480060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Kısıtlama: Saga/Outbox gibi bazı üst düzey MassTransit özellikleri, Kafka Rider ile RabbitMQ/Azure Service Bus kadar doğal çalışmaz — Kafka'nın log tabanlı doğası bu soyutlamayla tam örtüşmez.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vs RabbitMQ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MASSTRANSIT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Driver vs MassTransit: Kafka İçin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57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(Confluent.Kafka)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365760" cy="365760"/>
          </a:xfrm>
          <a:prstGeom prst="ellipse">
            <a:avLst/>
          </a:prstGeom>
          <a:solidFill>
            <a:srgbClr val="146C43"/>
          </a:solidFill>
          <a:ln/>
        </p:spPr>
      </p:sp>
      <p:pic>
        <p:nvPicPr>
          <p:cNvPr id="7" name="Image 0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139696"/>
            <a:ext cx="201168" cy="2011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43000" y="1984248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kontrol, düşük seviye API'ye doğrudan erişim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40080" y="2734056"/>
            <a:ext cx="365760" cy="365760"/>
          </a:xfrm>
          <a:prstGeom prst="ellipse">
            <a:avLst/>
          </a:prstGeom>
          <a:solidFill>
            <a:srgbClr val="146C43"/>
          </a:solidFill>
          <a:ln/>
        </p:spPr>
      </p:sp>
      <p:pic>
        <p:nvPicPr>
          <p:cNvPr id="10" name="Image 1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81635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43000" y="2660904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Ekstra soyutlama katmanı yok — performans avantajı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40080" y="3410712"/>
            <a:ext cx="365760" cy="365760"/>
          </a:xfrm>
          <a:prstGeom prst="ellipse">
            <a:avLst/>
          </a:prstGeom>
          <a:solidFill>
            <a:srgbClr val="146C43"/>
          </a:solidFill>
          <a:ln/>
        </p:spPr>
      </p:sp>
      <p:pic>
        <p:nvPicPr>
          <p:cNvPr id="13" name="Image 2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493008"/>
            <a:ext cx="201168" cy="20116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43000" y="333756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Streams / exactly-once transactions gibi gelişmiş özellikler doğrudan kullanılabilir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640080" y="4087368"/>
            <a:ext cx="365760" cy="365760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16" name="Image 3" descr="/home/claude/pptx_work/icons/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4169664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43000" y="4014216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kod fazla — retry, serialization elle yazılır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640080" y="4764024"/>
            <a:ext cx="365760" cy="365760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19" name="Image 4" descr="/home/claude/pptx_work/icons/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4846320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143000" y="4690872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değişimi (örn. RabbitMQ'ya geçiş) kodun büyük kısmını yeniden yazmayı gerektirir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6263640" y="1463040"/>
            <a:ext cx="5394960" cy="457200"/>
          </a:xfrm>
          <a:prstGeom prst="roundRect">
            <a:avLst>
              <a:gd name="adj" fmla="val 8000"/>
            </a:avLst>
          </a:prstGeom>
          <a:solidFill>
            <a:srgbClr val="00B8D9"/>
          </a:solidFill>
          <a:ln/>
        </p:spPr>
      </p:sp>
      <p:sp>
        <p:nvSpPr>
          <p:cNvPr id="22" name="Text 15"/>
          <p:cNvSpPr txBox="1"/>
          <p:nvPr/>
        </p:nvSpPr>
        <p:spPr>
          <a:xfrm>
            <a:off x="6263640" y="14630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MassTransit (Kafka Rider)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6355080" y="2057400"/>
            <a:ext cx="365760" cy="365760"/>
          </a:xfrm>
          <a:prstGeom prst="ellipse">
            <a:avLst/>
          </a:prstGeom>
          <a:solidFill>
            <a:srgbClr val="146C43"/>
          </a:solidFill>
          <a:ln/>
        </p:spPr>
      </p:sp>
      <p:pic>
        <p:nvPicPr>
          <p:cNvPr id="24" name="Image 5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139696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858000" y="1984248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Tutarlı, broker-agnostic mesajlaşma kodu</a:t>
            </a:r>
            <a:endParaRPr lang="en-US" sz="950" dirty="0"/>
          </a:p>
        </p:txBody>
      </p:sp>
      <p:sp>
        <p:nvSpPr>
          <p:cNvPr id="26" name="Shape 18"/>
          <p:cNvSpPr/>
          <p:nvPr/>
        </p:nvSpPr>
        <p:spPr>
          <a:xfrm>
            <a:off x="6355080" y="2734056"/>
            <a:ext cx="365760" cy="365760"/>
          </a:xfrm>
          <a:prstGeom prst="ellipse">
            <a:avLst/>
          </a:prstGeom>
          <a:solidFill>
            <a:srgbClr val="146C43"/>
          </a:solidFill>
          <a:ln/>
        </p:spPr>
      </p:sp>
      <p:pic>
        <p:nvPicPr>
          <p:cNvPr id="27" name="Image 6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816352"/>
            <a:ext cx="201168" cy="201168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858000" y="2660904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harness ile kolay test edilebilirlik</a:t>
            </a:r>
            <a:endParaRPr lang="en-US" sz="950" dirty="0"/>
          </a:p>
        </p:txBody>
      </p:sp>
      <p:sp>
        <p:nvSpPr>
          <p:cNvPr id="29" name="Shape 20"/>
          <p:cNvSpPr/>
          <p:nvPr/>
        </p:nvSpPr>
        <p:spPr>
          <a:xfrm>
            <a:off x="6355080" y="3410712"/>
            <a:ext cx="365760" cy="365760"/>
          </a:xfrm>
          <a:prstGeom prst="ellipse">
            <a:avLst/>
          </a:prstGeom>
          <a:solidFill>
            <a:srgbClr val="146C43"/>
          </a:solidFill>
          <a:ln/>
        </p:spPr>
      </p:sp>
      <p:pic>
        <p:nvPicPr>
          <p:cNvPr id="30" name="Image 7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3493008"/>
            <a:ext cx="201168" cy="201168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6858000" y="333756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ve hata yönetimi hazır gelir</a:t>
            </a:r>
            <a:endParaRPr lang="en-US" sz="950" dirty="0"/>
          </a:p>
        </p:txBody>
      </p:sp>
      <p:sp>
        <p:nvSpPr>
          <p:cNvPr id="32" name="Shape 22"/>
          <p:cNvSpPr/>
          <p:nvPr/>
        </p:nvSpPr>
        <p:spPr>
          <a:xfrm>
            <a:off x="6355080" y="4087368"/>
            <a:ext cx="365760" cy="365760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33" name="Image 8" descr="/home/claude/pptx_work/icons/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4169664"/>
            <a:ext cx="201168" cy="201168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6858000" y="4014216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Kafka'ya özgü gelişmiş özelliklere (Kafka Streams gibi) tam erişim kısıtlı</a:t>
            </a:r>
            <a:endParaRPr lang="en-US" sz="950" dirty="0"/>
          </a:p>
        </p:txBody>
      </p:sp>
      <p:sp>
        <p:nvSpPr>
          <p:cNvPr id="35" name="Shape 24"/>
          <p:cNvSpPr/>
          <p:nvPr/>
        </p:nvSpPr>
        <p:spPr>
          <a:xfrm>
            <a:off x="6355080" y="4764024"/>
            <a:ext cx="365760" cy="365760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36" name="Image 9" descr="/home/claude/pptx_work/icons/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4846320"/>
            <a:ext cx="201168" cy="201168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6858000" y="4690872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Ekstra soyutlama katmanı, ince ayar gerektiren senaryolarda esnekliği azaltabilir</a:t>
            </a:r>
            <a:endParaRPr lang="en-US" sz="950" dirty="0"/>
          </a:p>
        </p:txBody>
      </p:sp>
      <p:sp>
        <p:nvSpPr>
          <p:cNvPr id="38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vs RabbitMQ</a:t>
            </a:r>
            <a:endParaRPr lang="en-US" sz="900" dirty="0"/>
          </a:p>
        </p:txBody>
      </p:sp>
      <p:sp>
        <p:nvSpPr>
          <p:cNvPr id="3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MASSTRANSIT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Driver vs MassTransit: RabbitMQ İçin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57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(RabbitMQ.Client)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365760" cy="365760"/>
          </a:xfrm>
          <a:prstGeom prst="ellipse">
            <a:avLst/>
          </a:prstGeom>
          <a:solidFill>
            <a:srgbClr val="146C43"/>
          </a:solidFill>
          <a:ln/>
        </p:spPr>
      </p:sp>
      <p:pic>
        <p:nvPicPr>
          <p:cNvPr id="7" name="Image 0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139696"/>
            <a:ext cx="201168" cy="2011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43000" y="1984248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kontrol, protokol seviyesinde ince ayar imkânı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40080" y="2734056"/>
            <a:ext cx="365760" cy="365760"/>
          </a:xfrm>
          <a:prstGeom prst="ellipse">
            <a:avLst/>
          </a:prstGeom>
          <a:solidFill>
            <a:srgbClr val="146C43"/>
          </a:solidFill>
          <a:ln/>
        </p:spPr>
      </p:sp>
      <p:pic>
        <p:nvPicPr>
          <p:cNvPr id="10" name="Image 1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81635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43000" y="2660904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Ekstra soyutlama yok — minimal overhead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40080" y="3410712"/>
            <a:ext cx="365760" cy="365760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13" name="Image 2" descr="/home/claude/pptx_work/icons/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3493008"/>
            <a:ext cx="201168" cy="20116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43000" y="333756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Exchange/queue/binding topolojisi elle kurulmalı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640080" y="4087368"/>
            <a:ext cx="365760" cy="365760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16" name="Image 3" descr="/home/claude/pptx_work/icons/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4169664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43000" y="4014216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Saga, Outbox gibi üst düzey pattern'ler sıfırdan yazılmalı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640080" y="4764024"/>
            <a:ext cx="365760" cy="365760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19" name="Image 4" descr="/home/claude/pptx_work/icons/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4846320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143000" y="4690872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Retry/error handling boilerplate kodu her projede tekrar yazılır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6263640" y="1463040"/>
            <a:ext cx="5394960" cy="457200"/>
          </a:xfrm>
          <a:prstGeom prst="roundRect">
            <a:avLst>
              <a:gd name="adj" fmla="val 8000"/>
            </a:avLst>
          </a:prstGeom>
          <a:solidFill>
            <a:srgbClr val="00B8D9"/>
          </a:solidFill>
          <a:ln/>
        </p:spPr>
      </p:sp>
      <p:sp>
        <p:nvSpPr>
          <p:cNvPr id="22" name="Text 15"/>
          <p:cNvSpPr txBox="1"/>
          <p:nvPr/>
        </p:nvSpPr>
        <p:spPr>
          <a:xfrm>
            <a:off x="6263640" y="14630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MassTransit (RabbitMQ)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6355080" y="2057400"/>
            <a:ext cx="365760" cy="365760"/>
          </a:xfrm>
          <a:prstGeom prst="ellipse">
            <a:avLst/>
          </a:prstGeom>
          <a:solidFill>
            <a:srgbClr val="146C43"/>
          </a:solidFill>
          <a:ln/>
        </p:spPr>
      </p:sp>
      <p:pic>
        <p:nvPicPr>
          <p:cNvPr id="24" name="Image 5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139696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858000" y="1984248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Topoloji otomatik kurulur — çok az kod ile üretime hazır</a:t>
            </a:r>
            <a:endParaRPr lang="en-US" sz="950" dirty="0"/>
          </a:p>
        </p:txBody>
      </p:sp>
      <p:sp>
        <p:nvSpPr>
          <p:cNvPr id="26" name="Shape 18"/>
          <p:cNvSpPr/>
          <p:nvPr/>
        </p:nvSpPr>
        <p:spPr>
          <a:xfrm>
            <a:off x="6355080" y="2734056"/>
            <a:ext cx="365760" cy="365760"/>
          </a:xfrm>
          <a:prstGeom prst="ellipse">
            <a:avLst/>
          </a:prstGeom>
          <a:solidFill>
            <a:srgbClr val="146C43"/>
          </a:solidFill>
          <a:ln/>
        </p:spPr>
      </p:sp>
      <p:pic>
        <p:nvPicPr>
          <p:cNvPr id="27" name="Image 6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816352"/>
            <a:ext cx="201168" cy="201168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858000" y="2660904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Saga/Outbox/Retry hazır ve olgun şekilde çalışır (en iyi kombinasyon)</a:t>
            </a:r>
            <a:endParaRPr lang="en-US" sz="950" dirty="0"/>
          </a:p>
        </p:txBody>
      </p:sp>
      <p:sp>
        <p:nvSpPr>
          <p:cNvPr id="29" name="Shape 20"/>
          <p:cNvSpPr/>
          <p:nvPr/>
        </p:nvSpPr>
        <p:spPr>
          <a:xfrm>
            <a:off x="6355080" y="3410712"/>
            <a:ext cx="365760" cy="365760"/>
          </a:xfrm>
          <a:prstGeom prst="ellipse">
            <a:avLst/>
          </a:prstGeom>
          <a:solidFill>
            <a:srgbClr val="146C43"/>
          </a:solidFill>
          <a:ln/>
        </p:spPr>
      </p:sp>
      <p:pic>
        <p:nvPicPr>
          <p:cNvPr id="30" name="Image 7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3493008"/>
            <a:ext cx="201168" cy="201168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6858000" y="333756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değişimi gerekirse (örn. Azure Service Bus'a) kod büyük ölçüde aynı kalır</a:t>
            </a:r>
            <a:endParaRPr lang="en-US" sz="950" dirty="0"/>
          </a:p>
        </p:txBody>
      </p:sp>
      <p:sp>
        <p:nvSpPr>
          <p:cNvPr id="32" name="Shape 22"/>
          <p:cNvSpPr/>
          <p:nvPr/>
        </p:nvSpPr>
        <p:spPr>
          <a:xfrm>
            <a:off x="6355080" y="4087368"/>
            <a:ext cx="365760" cy="365760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33" name="Image 8" descr="/home/claude/pptx_work/icons/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4169664"/>
            <a:ext cx="201168" cy="201168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6858000" y="4014216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Soyutlama katmanı, çok özel/düşük seviye RabbitMQ senaryolarında kısıtlayıcı olabilir</a:t>
            </a:r>
            <a:endParaRPr lang="en-US" sz="950" dirty="0"/>
          </a:p>
        </p:txBody>
      </p:sp>
      <p:sp>
        <p:nvSpPr>
          <p:cNvPr id="35" name="Shape 24"/>
          <p:cNvSpPr/>
          <p:nvPr/>
        </p:nvSpPr>
        <p:spPr>
          <a:xfrm>
            <a:off x="6355080" y="4764024"/>
            <a:ext cx="365760" cy="365760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36" name="Image 9" descr="/home/claude/pptx_work/icons/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4846320"/>
            <a:ext cx="201168" cy="201168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6858000" y="4690872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Ekstra bağımlılık ve öğrenme eğrisi</a:t>
            </a:r>
            <a:endParaRPr lang="en-US" sz="950" dirty="0"/>
          </a:p>
        </p:txBody>
      </p:sp>
      <p:sp>
        <p:nvSpPr>
          <p:cNvPr id="38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vs RabbitMQ</a:t>
            </a:r>
            <a:endParaRPr lang="en-US" sz="900" dirty="0"/>
          </a:p>
        </p:txBody>
      </p:sp>
      <p:sp>
        <p:nvSpPr>
          <p:cNvPr id="3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REHBERI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Hangi Durumda Ne Kullanmalı?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2651760"/>
          </a:xfrm>
          <a:prstGeom prst="roundRect">
            <a:avLst>
              <a:gd name="adj" fmla="val 2759"/>
            </a:avLst>
          </a:prstGeom>
          <a:solidFill>
            <a:srgbClr val="EEF3FC"/>
          </a:solidFill>
          <a:ln/>
        </p:spPr>
      </p:sp>
      <p:sp>
        <p:nvSpPr>
          <p:cNvPr id="5" name="Shape 3"/>
          <p:cNvSpPr/>
          <p:nvPr/>
        </p:nvSpPr>
        <p:spPr>
          <a:xfrm>
            <a:off x="1943100" y="20574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x_work/icons/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22631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97180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hacim +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+ streaming?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3749040"/>
            <a:ext cx="288036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37490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Kafka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1828800"/>
            <a:ext cx="3611880" cy="2651760"/>
          </a:xfrm>
          <a:prstGeom prst="roundRect">
            <a:avLst>
              <a:gd name="adj" fmla="val 2759"/>
            </a:avLst>
          </a:prstGeom>
          <a:solidFill>
            <a:srgbClr val="EEF3FC"/>
          </a:solidFill>
          <a:ln/>
        </p:spPr>
      </p:sp>
      <p:sp>
        <p:nvSpPr>
          <p:cNvPr id="11" name="Shape 8"/>
          <p:cNvSpPr/>
          <p:nvPr/>
        </p:nvSpPr>
        <p:spPr>
          <a:xfrm>
            <a:off x="5737860" y="20574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pptx_work/icons/lista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26314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26280" y="297180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kuyruk +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karmaşık routing?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709160" y="3749040"/>
            <a:ext cx="288036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709160" y="37490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RabbitMQ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38160" y="1828800"/>
            <a:ext cx="3611880" cy="2651760"/>
          </a:xfrm>
          <a:prstGeom prst="roundRect">
            <a:avLst>
              <a:gd name="adj" fmla="val 2759"/>
            </a:avLst>
          </a:prstGeom>
          <a:solidFill>
            <a:srgbClr val="EEF3FC"/>
          </a:solidFill>
          <a:ln/>
        </p:spPr>
      </p:sp>
      <p:sp>
        <p:nvSpPr>
          <p:cNvPr id="17" name="Shape 13"/>
          <p:cNvSpPr/>
          <p:nvPr/>
        </p:nvSpPr>
        <p:spPr>
          <a:xfrm>
            <a:off x="9532620" y="20574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home/claude/pptx_work/icons/shuff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8360" y="226314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21040" y="297180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Broker-agnostik +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 + hızlı geliştirme?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503920" y="3749040"/>
            <a:ext cx="2880360" cy="548640"/>
          </a:xfrm>
          <a:prstGeom prst="roundRect">
            <a:avLst>
              <a:gd name="adj" fmla="val 50000"/>
            </a:avLst>
          </a:prstGeom>
          <a:solidFill>
            <a:srgbClr val="00B8D9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503920" y="37490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MassTransit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(RabbitMQ ile ideal)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4937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Bu üçü birbirini dışlamaz — bir sistemde hem Kafka (event streaming için) hem RabbitMQ+MassTransit (iş kuyruğu/saga için) bir arada kullanılabilir.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vs RabbitMQ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41B4D">
              <a:alpha val="7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18872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Aklınızda Kalması Gerekenler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384048" cy="38404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6" name="Image 0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71" y="2189531"/>
            <a:ext cx="211226" cy="21122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205740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bir kalıcı log'dur, RabbitMQ bir tüketilen kuyruktur — tüm farklar bu tek karardan doğar.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22960" y="2926080"/>
            <a:ext cx="384048" cy="38404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9" name="Image 1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71" y="3012491"/>
            <a:ext cx="211226" cy="21122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88036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hacim, replay ve stream processing gerekiyorsa Kafka; karmaşık routing ve klasik iş kuyruğu gerekiyorsa RabbitMQ.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" y="3749040"/>
            <a:ext cx="384048" cy="38404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2" name="Image 2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71" y="3835451"/>
            <a:ext cx="211226" cy="21122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70332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MassTransit, RabbitMQ ile native transport olarak olgun çalışır; Kafka ile ise Rider kavramıyla sınırlı biçimde entegre olur.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822960" y="4572000"/>
            <a:ext cx="384048" cy="38404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5" name="Image 3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71" y="4658411"/>
            <a:ext cx="211226" cy="21122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17320" y="452628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driver tam kontrol ve performans verir; MassTransit ise hız, tutarlılık ve saga/outbox gibi hazır pattern'ler sağlar.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822960" y="5394960"/>
            <a:ext cx="384048" cy="38404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8" name="Image 4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71" y="5481371"/>
            <a:ext cx="211226" cy="21122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17320" y="534924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İkisi de birbirini dışlamaz — doğru mimaride her ikisi birlikte, farklı sorumluluklarla kullanılabilir.</a:t>
            </a:r>
            <a:endParaRPr lang="en-US" sz="1250" dirty="0"/>
          </a:p>
        </p:txBody>
      </p:sp>
      <p:sp>
        <p:nvSpPr>
          <p:cNvPr id="20" name="Text 13"/>
          <p:cNvSpPr txBox="1"/>
          <p:nvPr/>
        </p:nvSpPr>
        <p:spPr>
          <a:xfrm>
            <a:off x="822960" y="6172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00B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Sorular?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1569</Words>
  <Application>Microsoft Office PowerPoint</Application>
  <PresentationFormat>Geniş ekran</PresentationFormat>
  <Paragraphs>258</Paragraphs>
  <Slides>19</Slides>
  <Notes>19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Kafka ve RabbitMQ Karşılaştırması</dc:title>
  <dc:subject>PptxGenJS Presentation</dc:subject>
  <dc:creator>Neominal Akademi</dc:creator>
  <cp:lastModifiedBy>Mert Alptekin (Egitici)</cp:lastModifiedBy>
  <cp:revision>2</cp:revision>
  <dcterms:created xsi:type="dcterms:W3CDTF">2026-09-01T11:59:56Z</dcterms:created>
  <dcterms:modified xsi:type="dcterms:W3CDTF">2026-09-01T16:48:10Z</dcterms:modified>
</cp:coreProperties>
</file>