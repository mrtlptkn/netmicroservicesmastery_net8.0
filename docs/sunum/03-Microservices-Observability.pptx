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6" autoAdjust="0"/>
    <p:restoredTop sz="84932" autoAdjust="0"/>
  </p:normalViewPr>
  <p:slideViewPr>
    <p:cSldViewPr snapToGrid="0" snapToObjects="1">
      <p:cViewPr>
        <p:scale>
          <a:sx n="78" d="100"/>
          <a:sy n="78" d="100"/>
        </p:scale>
        <p:origin x="240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09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EĞİTİM SUNUMU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</a:t>
            </a:r>
            <a:endParaRPr lang="en-US" sz="52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 ve Trace'ler ile Uçtan Uca Görünürlük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9" name="Image 0" descr="/home/claude/pptx_work/icons/l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502810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550468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74520" y="48920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2" name="Image 1" descr="/home/claude/pptx_work/icons/tra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583" y="50281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550468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926080" y="489204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5" name="Image 2" descr="/home/claude/pptx_work/icons/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2143" y="502810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788920" y="550468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Microservices Mastery  —  Neominal Microservices Template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Sunumda Neler Var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work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18277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9047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733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Nedir?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2082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temel sacayağı: Logs, Metrics, Traces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icons/l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260494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26771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450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Loglar: Serilog + Seq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79806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ve log toplama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x_work/icons/tra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338218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" y="304495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2278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Trace'ler: OpenTelemetry + Jaeger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57530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Dağıtık izleme, span ve context propagation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pptx_work/icons/metr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43" y="415942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82219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1417320" y="40050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Metrikler: Prometheus + Grafana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417320" y="435254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Pull-based toplama ve görselleştirme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8006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/home/claude/pptx_work/icons/exch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143" y="4936663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" y="459943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1417320" y="4782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Bunların Birlikte Çalışması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512978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OpenTelemetry'nin köprü rolü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0080" y="5577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/home/claude/pptx_work/icons/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143" y="5713903"/>
            <a:ext cx="294803" cy="29480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40080" y="537667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1417320" y="55595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Akış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1417320" y="590702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uygulama üzerinden canlı senaryo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Nedir?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“monitoring”den farkı: sistemin sadece durumunu değil, o duruma NEDEN geldiğini anlamaya odaklanır. Üç temel veri türüne dayanır: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1988820" y="26517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l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8575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611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23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oldu?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434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bir anda uygulamanın ürettiği ayrıntılı, olay bazlı kayıtlar.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16552" y="233172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EEF3FC"/>
          </a:solidFill>
          <a:ln/>
        </p:spPr>
      </p:sp>
      <p:sp>
        <p:nvSpPr>
          <p:cNvPr id="12" name="Shape 9"/>
          <p:cNvSpPr/>
          <p:nvPr/>
        </p:nvSpPr>
        <p:spPr>
          <a:xfrm>
            <a:off x="5765292" y="26517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pptx_work/icons/tra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8575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99432" y="3611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99432" y="4023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Nerede, hangi adımda?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4736592" y="4434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isteğin birden fazla servisten geçerken izlediği yol.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93024" y="233172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EEF3FC"/>
          </a:solidFill>
          <a:ln/>
        </p:spPr>
      </p:sp>
      <p:sp>
        <p:nvSpPr>
          <p:cNvPr id="18" name="Shape 14"/>
          <p:cNvSpPr/>
          <p:nvPr/>
        </p:nvSpPr>
        <p:spPr>
          <a:xfrm>
            <a:off x="9541764" y="26517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pptx_work/icons/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28575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75904" y="3611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375904" y="4023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kadar / kaç tane?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8513064" y="4434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içinde toplanan sayısal ölçümler (sayaç, oran, süre).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MOTIVASYON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Mikroservislerde Kritik?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4003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212848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process — bir hata olduğunda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genelde yeterlidir.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577840" y="2331720"/>
            <a:ext cx="822960" cy="4572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94960" y="2880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büyür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Mikroservisler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675120" y="20574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05740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92440" y="20574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92440" y="205740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509760" y="20574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09760" y="205740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09560" y="2450592"/>
            <a:ext cx="18288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0" y="2450592"/>
            <a:ext cx="18288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75120" y="3017520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3017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3 serviste geçiyor — hangi adımda yavaşladı/hata verdi?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" y="4297680"/>
            <a:ext cx="10881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1" descr="/home/claude/pptx_work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4697730"/>
            <a:ext cx="251460" cy="2514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325880" y="4526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Dağınık iz sürme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325880" y="486460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log dosyası yok — sorun hangi serviste?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297680" y="4572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2" descr="/home/claude/pptx_work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410" y="4697730"/>
            <a:ext cx="251460" cy="2514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983480" y="4526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kesintiler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4983480" y="486460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instance'ları sürekli değişir, statik izleme yetersiz kalır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955280" y="4572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" descr="/home/claude/pptx_work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010" y="4697730"/>
            <a:ext cx="251460" cy="25146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641080" y="4526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ve SLA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8641080" y="486460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“Çalışıyor mu?” sorusunun kanıtlanabilir bir cevabı gerekir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" name="Image 0" descr="/home/claude/pptx_work/icons/l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Loglar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ile structured logging, Seq ile arama ve analiz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Serilog: Structured Logging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için bir structured logging kütüphanesi. Düz metin yerine, her log kaydını key-value çiftleri olarak üretir — bu da arama ve filtrelemeyi çok kolaylaştırır.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 METİN LOG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029200" cy="960120"/>
          </a:xfrm>
          <a:prstGeom prst="roundRect">
            <a:avLst>
              <a:gd name="adj" fmla="val 4762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603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"Kullanıcı 42 giriş yaptı"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40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 (SERILOG)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2560320"/>
            <a:ext cx="5486400" cy="960120"/>
          </a:xfrm>
          <a:prstGeom prst="roundRect">
            <a:avLst>
              <a:gd name="adj" fmla="val 4762"/>
            </a:avLst>
          </a:prstGeom>
          <a:solidFill>
            <a:srgbClr val="E9F7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25603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5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"UserId": 42, "Event": "UserLoggedIn" 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"UserId: 42" ile programatik arama/filtreleme yalnızca sağdaki formatta mümkündür.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0" descr="/home/claude/pptx_wor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560570"/>
            <a:ext cx="251460" cy="2514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98448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1298448" y="473659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log kaydına otomatik ek bilgi (machine name, thread id, correlation id) eklenir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76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home/claude/pptx_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410" y="456057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956048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Level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4956048" y="473659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· Debug · Information · Warning · Error · Fatal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9552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/home/claude/pptx_work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1010" y="456057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613648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8613648" y="473659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Logların gönderildiği hedef — Console, dosya, Seq, Elasticsearch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Seq: Log Toplama ve Arama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Serilog'un (ve diğer structured logging kütüphanelerinin) ürettiği logları toplayan, indeksleyen ve sorgulanabilir hale getiren bir log sunucusu/arayüzü.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PROJEMİZDEKİ KURULUM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492240" cy="1737360"/>
          </a:xfrm>
          <a:prstGeom prst="roundRect">
            <a:avLst>
              <a:gd name="adj" fmla="val 2632"/>
            </a:avLst>
          </a:prstGeom>
          <a:solidFill>
            <a:srgbClr val="141B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803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.WriteTo.Seq(
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serverUrl,
    apiKey: apiKey)
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60920" y="1463040"/>
            <a:ext cx="4251960" cy="457200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1463040"/>
            <a:ext cx="4251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7543800" y="1572768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1" name="Image 0" descr="/home/claude/pptx_wor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322" y="1631290"/>
            <a:ext cx="175565" cy="17556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936992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= neominal-app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98080" y="2221992"/>
            <a:ext cx="73152" cy="502920"/>
          </a:xfrm>
          <a:prstGeom prst="rect">
            <a:avLst/>
          </a:prstGeom>
          <a:solidFill>
            <a:srgbClr val="146C4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8096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10:22:01  Information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23957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/demo/db/products 201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498080" y="2999232"/>
            <a:ext cx="73152" cy="50292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0" y="2926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10:22:05  Error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31729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Npgsql connection timeout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498080" y="3776472"/>
            <a:ext cx="73152" cy="502920"/>
          </a:xfrm>
          <a:prstGeom prst="rect">
            <a:avLst/>
          </a:prstGeom>
          <a:solidFill>
            <a:srgbClr val="146C4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680960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10:22:09  Information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395020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 topic olusturuldu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498080" y="4553712"/>
            <a:ext cx="73152" cy="502920"/>
          </a:xfrm>
          <a:prstGeom prst="rect">
            <a:avLst/>
          </a:prstGeom>
          <a:solidFill>
            <a:srgbClr val="8A6D1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80960" y="4480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10:22:14  Warning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47274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cache miss: kullanici-42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" name="Image 0" descr="/home/claude/pptx_work/icons/t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Trace'ler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ile enstrümantasyon, Jaeger ile görselleştirme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TRACE'LER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 Mimarisi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bir backend DEĞİL, bir enstrümantasyon/veri toplama standardıdır. Neyi ölçtüğünüzü tanımlar; nereye göndereceğinizi Exporter belirler.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2834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Uygulaması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40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(AddAspNetCoreInstrumentation)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090672" y="3200400"/>
            <a:ext cx="320040" cy="320040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24231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</p:sp>
      <p:sp>
        <p:nvSpPr>
          <p:cNvPr id="12" name="Shape 9"/>
          <p:cNvSpPr/>
          <p:nvPr/>
        </p:nvSpPr>
        <p:spPr>
          <a:xfrm>
            <a:off x="422910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pptx_work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28346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SDK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840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/ Span üretir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833872" y="3200400"/>
            <a:ext cx="320040" cy="320040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17" name="Shape 13"/>
          <p:cNvSpPr/>
          <p:nvPr/>
        </p:nvSpPr>
        <p:spPr>
          <a:xfrm>
            <a:off x="6126480" y="24231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</p:sp>
      <p:sp>
        <p:nvSpPr>
          <p:cNvPr id="18" name="Shape 14"/>
          <p:cNvSpPr/>
          <p:nvPr/>
        </p:nvSpPr>
        <p:spPr>
          <a:xfrm>
            <a:off x="697230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pptx_work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28346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1792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3840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veya Prometheus formatına çevirir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577072" y="3200400"/>
            <a:ext cx="320040" cy="320040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23" name="Shape 18"/>
          <p:cNvSpPr/>
          <p:nvPr/>
        </p:nvSpPr>
        <p:spPr>
          <a:xfrm>
            <a:off x="8869680" y="24231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24" name="Shape 19"/>
          <p:cNvSpPr/>
          <p:nvPr/>
        </p:nvSpPr>
        <p:spPr>
          <a:xfrm>
            <a:off x="9715500" y="2651760"/>
            <a:ext cx="731520" cy="73152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5" name="Image 3" descr="/home/claude/pptx_work/icons/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8380" y="28346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96112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9006840" y="3840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Jaeger, Prometheus, ...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40080" y="4663440"/>
            <a:ext cx="10881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pptx_work/icons/rou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" y="5017770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298448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1298448" y="51937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isteğin uçtan uca tuttuğu kayıt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29768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5" descr="/home/claude/pptx_work/icons/lay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3410" y="5017770"/>
            <a:ext cx="251460" cy="25146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956048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4956048" y="51937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içindeki tek bir işlem/adım (parent-child ilişkili)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795528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6" descr="/home/claude/pptx_work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1010" y="5017770"/>
            <a:ext cx="251460" cy="25146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613648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Propagation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8613648" y="51937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kimliğinin servisler arası HTTP header'larla taşınması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TRACE'LER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Jaeger: Dağıtık İzleme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isteğin birden fazla mikroservisten geçerken izlenmesini sağlar. Aşağıdaki gibi bir “waterfall” görünümüyle, isteğin hangi adımda ne kadar süre harcadığını gösterir.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POST /demo/db/products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06240" y="2514600"/>
            <a:ext cx="7040880" cy="2743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044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FluentValidation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7058" y="3136392"/>
            <a:ext cx="563270" cy="274320"/>
          </a:xfrm>
          <a:prstGeom prst="roundRect">
            <a:avLst>
              <a:gd name="adj" fmla="val 10000"/>
            </a:avLst>
          </a:prstGeom>
          <a:solidFill>
            <a:srgbClr val="00B8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66674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Core: INSERT INTO products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62372" y="3758184"/>
            <a:ext cx="3872484" cy="274320"/>
          </a:xfrm>
          <a:prstGeom prst="roundRect">
            <a:avLst>
              <a:gd name="adj" fmla="val 10000"/>
            </a:avLst>
          </a:prstGeom>
          <a:solidFill>
            <a:srgbClr val="6C4E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71600" y="42885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Npgsql: TCP round-trip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14416" y="4379976"/>
            <a:ext cx="3168396" cy="274320"/>
          </a:xfrm>
          <a:prstGeom prst="roundRect">
            <a:avLst>
              <a:gd name="adj" fmla="val 10000"/>
            </a:avLst>
          </a:prstGeom>
          <a:solidFill>
            <a:srgbClr val="9B87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9103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Serilog: request logged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683850" y="5001768"/>
            <a:ext cx="422453" cy="274320"/>
          </a:xfrm>
          <a:prstGeom prst="roundRect">
            <a:avLst>
              <a:gd name="adj" fmla="val 10000"/>
            </a:avLst>
          </a:prstGeom>
          <a:solidFill>
            <a:srgbClr val="B3A1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5623560"/>
            <a:ext cx="7040880" cy="0"/>
          </a:xfrm>
          <a:prstGeom prst="line">
            <a:avLst/>
          </a:prstGeom>
          <a:noFill/>
          <a:ln w="9525">
            <a:solidFill>
              <a:srgbClr val="5B647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114800" y="5669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0" y="5669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" name="Image 0" descr="/home/claude/pptx_work/icons/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Metrikler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ile toplama, Grafana ile görselleştirme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Prometheus: Pull-Based Metrik Toplama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1554480"/>
          </a:xfrm>
          <a:prstGeom prst="roundRect">
            <a:avLst>
              <a:gd name="adj" fmla="val 4118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19545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Uygulaması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endpoint'i sunar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2057400"/>
            <a:ext cx="914400" cy="457200"/>
          </a:xfrm>
          <a:prstGeom prst="leftArrow">
            <a:avLst/>
          </a:prstGeom>
          <a:solidFill>
            <a:srgbClr val="00B8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23560" y="2606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(15s)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58000" y="1554480"/>
            <a:ext cx="4754880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7086600" y="1783080"/>
            <a:ext cx="685800" cy="6858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3" name="Image 1" descr="/home/claude/pptx_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050" y="195453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90956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909560" y="2148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 veritabanı + PromQL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3337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Kendisi hedefe GİDER — uygulamanın push etmesine gerek yoktur. Bu, hedefin ayakta olup olmadığını (up/down) otomatik gösterir.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93192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METRİK TİPLERİ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4805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77240" y="4617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983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artar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5349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istek sayısı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297680" y="44805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526280" y="4617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526280" y="4983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Artar / azalır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526280" y="5349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bağlantı, health durumu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046720" y="44805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8275320" y="4617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8275320" y="4983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Bucket'lara dağılım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8275320" y="5349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süresi (p95/p99)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Grafana: Görselleştirme ve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Kaynak-agnostik bir görselleştirme katmanı. Prometheus'tan metrik, Loki'den log, Jaeger'dan trace çekip tek dashboard'da birleştirebilir.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25488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40487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246120" y="240487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Grafana'nın sorgu gönderdiği backend (Prometheus)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icons/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33261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1821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31821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içindeki tek bir grafik/tablo/gösterge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x_work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41033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395935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246120" y="39593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Belirlenen eşik aşıldığında bildirim gönderme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892040"/>
            <a:ext cx="6309360" cy="123444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77240" y="50109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projede: Grafana Provisioning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34924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datasource.yml + dashboard JSON, container her açıldığında otomatik yüklenir — elle kurulum gerekmez.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223760" y="1463040"/>
            <a:ext cx="4389120" cy="46634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223760" y="146304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2" name="Shape 17"/>
          <p:cNvSpPr/>
          <p:nvPr/>
        </p:nvSpPr>
        <p:spPr>
          <a:xfrm>
            <a:off x="7406640" y="1563624"/>
            <a:ext cx="256032" cy="256032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3" name="Image 3" descr="/home/claude/pptx_work/icons/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7846" y="1614830"/>
            <a:ext cx="153619" cy="15361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724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Genel Bakış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406640" y="205740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26" name="Shape 20"/>
          <p:cNvSpPr/>
          <p:nvPr/>
        </p:nvSpPr>
        <p:spPr>
          <a:xfrm>
            <a:off x="7406640" y="2057400"/>
            <a:ext cx="73152" cy="868680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589520" y="2130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589520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9372600" y="205740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30" name="Shape 24"/>
          <p:cNvSpPr/>
          <p:nvPr/>
        </p:nvSpPr>
        <p:spPr>
          <a:xfrm>
            <a:off x="9372600" y="2057400"/>
            <a:ext cx="73152" cy="868680"/>
          </a:xfrm>
          <a:prstGeom prst="rect">
            <a:avLst/>
          </a:prstGeom>
          <a:solidFill>
            <a:srgbClr val="6C4EE0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555480" y="2130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555480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7406640" y="306324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34" name="Shape 28"/>
          <p:cNvSpPr/>
          <p:nvPr/>
        </p:nvSpPr>
        <p:spPr>
          <a:xfrm>
            <a:off x="7406640" y="3063240"/>
            <a:ext cx="73152" cy="86868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589520" y="31363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58952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9372600" y="306324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38" name="Shape 32"/>
          <p:cNvSpPr/>
          <p:nvPr/>
        </p:nvSpPr>
        <p:spPr>
          <a:xfrm>
            <a:off x="9372600" y="3063240"/>
            <a:ext cx="73152" cy="868680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9555480" y="31363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955548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180ms</a:t>
            </a:r>
            <a:endParaRPr lang="en-US" sz="1800" dirty="0"/>
          </a:p>
        </p:txBody>
      </p:sp>
      <p:sp>
        <p:nvSpPr>
          <p:cNvPr id="41" name="Shape 35"/>
          <p:cNvSpPr/>
          <p:nvPr/>
        </p:nvSpPr>
        <p:spPr>
          <a:xfrm>
            <a:off x="7406640" y="4160520"/>
            <a:ext cx="4023360" cy="1737360"/>
          </a:xfrm>
          <a:prstGeom prst="roundRect">
            <a:avLst>
              <a:gd name="adj" fmla="val 2632"/>
            </a:avLst>
          </a:prstGeom>
          <a:solidFill>
            <a:srgbClr val="EEF3FC"/>
          </a:solidFill>
          <a:ln/>
        </p:spPr>
      </p:sp>
      <p:sp>
        <p:nvSpPr>
          <p:cNvPr id="42" name="Shape 36"/>
          <p:cNvSpPr/>
          <p:nvPr/>
        </p:nvSpPr>
        <p:spPr>
          <a:xfrm>
            <a:off x="7543800" y="5522976"/>
            <a:ext cx="468630" cy="0"/>
          </a:xfrm>
          <a:prstGeom prst="line">
            <a:avLst/>
          </a:prstGeom>
          <a:noFill/>
          <a:ln w="28575">
            <a:solidFill>
              <a:srgbClr val="00B8D9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012430" y="5394960"/>
            <a:ext cx="468630" cy="256032"/>
          </a:xfrm>
          <a:prstGeom prst="line">
            <a:avLst/>
          </a:prstGeom>
          <a:noFill/>
          <a:ln w="28575">
            <a:solidFill>
              <a:srgbClr val="00B8D9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481060" y="5650992"/>
            <a:ext cx="468630" cy="0"/>
          </a:xfrm>
          <a:prstGeom prst="line">
            <a:avLst/>
          </a:prstGeom>
          <a:noFill/>
          <a:ln w="28575">
            <a:solidFill>
              <a:srgbClr val="00B8D9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8949690" y="5266944"/>
            <a:ext cx="468630" cy="192024"/>
          </a:xfrm>
          <a:prstGeom prst="line">
            <a:avLst/>
          </a:prstGeom>
          <a:noFill/>
          <a:ln w="28575">
            <a:solidFill>
              <a:srgbClr val="00B8D9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9418320" y="5458968"/>
            <a:ext cx="468630" cy="0"/>
          </a:xfrm>
          <a:prstGeom prst="line">
            <a:avLst/>
          </a:prstGeom>
          <a:noFill/>
          <a:ln w="28575">
            <a:solidFill>
              <a:srgbClr val="00B8D9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886950" y="5202936"/>
            <a:ext cx="468630" cy="0"/>
          </a:xfrm>
          <a:prstGeom prst="line">
            <a:avLst/>
          </a:prstGeom>
          <a:noFill/>
          <a:ln w="28575">
            <a:solidFill>
              <a:srgbClr val="00B8D9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0355580" y="5074920"/>
            <a:ext cx="468630" cy="0"/>
          </a:xfrm>
          <a:prstGeom prst="line">
            <a:avLst/>
          </a:prstGeom>
          <a:noFill/>
          <a:ln w="28575">
            <a:solidFill>
              <a:srgbClr val="00B8D9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0824210" y="4882896"/>
            <a:ext cx="468630" cy="128016"/>
          </a:xfrm>
          <a:prstGeom prst="line">
            <a:avLst/>
          </a:prstGeom>
          <a:noFill/>
          <a:ln w="28575">
            <a:solidFill>
              <a:srgbClr val="00B8D9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SENTEZ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OpenTelemetry, Prometheus ve Grafana Nasıl Bir Araya Gelir?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 aynı katmanda değil — birbirinin üstüne inşa edilen farklı katmanlarda çalışır.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504188" y="2167128"/>
            <a:ext cx="694944" cy="694944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7" name="Image 0" descr="/home/claude/pptx_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4" y="23408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" y="292608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+ OpenTelemetry SDK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38328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 ölçüyorum”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72968" y="2651760"/>
            <a:ext cx="274320" cy="3200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1" name="Shape 8"/>
          <p:cNvSpPr/>
          <p:nvPr/>
        </p:nvSpPr>
        <p:spPr>
          <a:xfrm>
            <a:off x="3410712" y="196596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EEF3FC"/>
          </a:solidFill>
          <a:ln/>
        </p:spPr>
      </p:sp>
      <p:sp>
        <p:nvSpPr>
          <p:cNvPr id="12" name="Shape 9"/>
          <p:cNvSpPr/>
          <p:nvPr/>
        </p:nvSpPr>
        <p:spPr>
          <a:xfrm>
            <a:off x="4366260" y="216712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pptx_work/icons/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234086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292608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AddPrometheusExporter()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38328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“Formatı ne”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2651760"/>
            <a:ext cx="274320" cy="3200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7" name="Shape 13"/>
          <p:cNvSpPr/>
          <p:nvPr/>
        </p:nvSpPr>
        <p:spPr>
          <a:xfrm>
            <a:off x="6272784" y="196596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7228332" y="2167128"/>
            <a:ext cx="694944" cy="694944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9" name="Image 2" descr="/home/claude/pptx_wor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068" y="234086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82512" y="292608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(/metrics scrape)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6382512" y="338328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“Nerede saklanıyor”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897112" y="2651760"/>
            <a:ext cx="274320" cy="32004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3" name="Shape 18"/>
          <p:cNvSpPr/>
          <p:nvPr/>
        </p:nvSpPr>
        <p:spPr>
          <a:xfrm>
            <a:off x="9134856" y="196596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EEF3FC"/>
          </a:solidFill>
          <a:ln/>
        </p:spPr>
      </p:sp>
      <p:sp>
        <p:nvSpPr>
          <p:cNvPr id="24" name="Shape 19"/>
          <p:cNvSpPr/>
          <p:nvPr/>
        </p:nvSpPr>
        <p:spPr>
          <a:xfrm>
            <a:off x="10090404" y="216712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pptx_work/icons/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40" y="2340864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44584" y="292608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9244584" y="3383280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“Nasıl gösteriliyor”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3590"/>
            </a:avLst>
          </a:prstGeom>
          <a:solidFill>
            <a:srgbClr val="FFF6E5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Ayrım: Instrumentation vs Exporter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5C4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AddAspNetCoreInstrumentation()</a:t>
            </a:r>
            <a:r>
              <a:rPr lang="en-US" sz="125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gibi satırlar hiç değişmez — çünkü bunlar “hangi veriyi topla” katmanı. </a:t>
            </a:r>
            <a:r>
              <a:rPr lang="en-US" sz="1250" b="1" dirty="0">
                <a:solidFill>
                  <a:srgbClr val="5C4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AddPrometheusExporter()</a:t>
            </a:r>
            <a:r>
              <a:rPr lang="en-US" sz="125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ise “nereye gönder” katmanıdır. Sadece exporter'ı değiştirerek (örn. Azure Monitor'a), kod tarafında hiçbir instrumentation satırına dokunmadan farklı bir backend'e geçebilirsiniz — bu, vendor lock-in'den kaçınmanın temelidir.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UYGULAMA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 Ne Yapıyor?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4650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l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836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73352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Loglar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167335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→ Seq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673352"/>
            <a:ext cx="5257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Program.cs: UseSerilog(...), WriteTo.Seq(...)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270662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x_work/icons/tra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84378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2633472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Trace'ler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63347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→ Jaeger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172200" y="2633472"/>
            <a:ext cx="5257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AddOtlpExporter → Jaeger (4317, OTLP gRPC)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52044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EEF3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" y="36667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pptx_work/icons/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8039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593592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3429000" y="359359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→ Prometheus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6172200" y="3593592"/>
            <a:ext cx="5257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AddPrometheusExporter → MapPrometheusScrapingEndpoint()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EEF3FC"/>
          </a:solidFill>
          <a:ln/>
        </p:spPr>
      </p:sp>
      <p:sp>
        <p:nvSpPr>
          <p:cNvPr id="23" name="Shape 18"/>
          <p:cNvSpPr/>
          <p:nvPr/>
        </p:nvSpPr>
        <p:spPr>
          <a:xfrm>
            <a:off x="713232" y="46268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pptx_work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76402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63040" y="4553712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Metrikleri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3429000" y="455371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Gauge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172200" y="4553712"/>
            <a:ext cx="5257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HealthCheckMetricsPublisher.cs → app_healthcheck_status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544068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EEF3FC"/>
          </a:solidFill>
          <a:ln/>
        </p:spPr>
      </p:sp>
      <p:sp>
        <p:nvSpPr>
          <p:cNvPr id="29" name="Shape 23"/>
          <p:cNvSpPr/>
          <p:nvPr/>
        </p:nvSpPr>
        <p:spPr>
          <a:xfrm>
            <a:off x="713232" y="55869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pptx_work/icons/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5724144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63040" y="5513832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3429000" y="551383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Provisioning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6172200" y="5513832"/>
            <a:ext cx="5257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grafana/provisioning/ → otomatik data source + dashboard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RESIM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Uçtan Uca Gözlem Akışı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574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4148" y="224028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wor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84" y="24140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gelir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42900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→ .NET uygulaması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32888" y="2788920"/>
            <a:ext cx="256032" cy="292608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11" name="Shape 8"/>
          <p:cNvSpPr/>
          <p:nvPr/>
        </p:nvSpPr>
        <p:spPr>
          <a:xfrm>
            <a:off x="2788920" y="19202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976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24428" y="224028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pptx_work/icons/l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64" y="241401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8036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Loglanır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898648" y="342900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→ Seq'e yazılır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73168" y="2788920"/>
            <a:ext cx="256032" cy="292608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18" name="Shape 14"/>
          <p:cNvSpPr/>
          <p:nvPr/>
        </p:nvSpPr>
        <p:spPr>
          <a:xfrm>
            <a:off x="5029200" y="19202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53796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664708" y="224028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pptx_work/icons/tra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444" y="2414016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12064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İzlenir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138928" y="342900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span başlatır → Jaeger'a gider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013448" y="2788920"/>
            <a:ext cx="256032" cy="292608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25" name="Shape 20"/>
          <p:cNvSpPr/>
          <p:nvPr/>
        </p:nvSpPr>
        <p:spPr>
          <a:xfrm>
            <a:off x="7269480" y="19202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7782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7904988" y="224028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pptx_work/icons/metr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724" y="2414016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6092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Ölçülür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379208" y="342900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Süre/sayaç → Prometheus scrape eder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9253728" y="2788920"/>
            <a:ext cx="256032" cy="292608"/>
          </a:xfrm>
          <a:prstGeom prst="rightArrow">
            <a:avLst/>
          </a:prstGeom>
          <a:solidFill>
            <a:srgbClr val="00B8D9"/>
          </a:solidFill>
          <a:ln/>
        </p:spPr>
      </p:sp>
      <p:sp>
        <p:nvSpPr>
          <p:cNvPr id="32" name="Shape 26"/>
          <p:cNvSpPr/>
          <p:nvPr/>
        </p:nvSpPr>
        <p:spPr>
          <a:xfrm>
            <a:off x="9509760" y="19202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110185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0145268" y="2240280"/>
            <a:ext cx="694944" cy="694944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5" name="Image 4" descr="/home/claude/pptx_work/icons/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04" y="2414016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60120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Görselleşir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9619488" y="342900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dashboard'da canlı görünür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822960" y="45902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Sorun Çıktığında: Korelasyon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822960" y="49834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Seq'te hatalı bir log görürsünüz → aynı isteğin trace'ini Jaeger'da bulup hangi adımda (DB? Redis? dış servis?) yavaşladığını görürsünüz → Grafana'da o zaman aralığındaki metrikleri (hata oranı, p95 süre) doğrularsınız. Üç sacayağı birbirini tamamlar, tek başına hiçbiri yeterli değildir.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SENARYO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İsteğin Yolculuğu: POST /demo/db/products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 Postman'den POST /demo/db/products isteği atar (nginx :8090 üzerinden ya da doğrudan :8080).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4963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5059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 body'yi kontrol eder; geçersizse HTTP 400 + ProblemDetails döner (bu adım da bir span'dır).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392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46704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PostgreSQL'e INSERT sorgusu gönderir — Npgsql çağrısı otomatik olarak bir child span olarak izlenir.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2885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4281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tamamlanınca: Serilog bir log satırı yazar (Seq'e), OpenTelemetry trace'i Jaeger'a export eder, süre/sayaç Prometheus tarafından bir sonraki scrape'te toplanır.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184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5184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3892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Grafana'daki “Uygulama Genel Bakış” dashboard'unda istek sayısı ve p95 süresi birkaç saniye içinde güncellenir.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Observability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Aklınızda Kalması Gerekenler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6" name="Image 0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2235251"/>
            <a:ext cx="211226" cy="2112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10312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= Logs + Traces + Metrics; üçü birbirini tamamlar, hiçbiri tek başına yeterli değildir.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9" name="Image 1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3012491"/>
            <a:ext cx="211226" cy="21122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8036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bir backend değil, standart bir enstrümantasyon katmanıdır — Exporter'ı değiştirerek backend'i değiştirebilirsiniz.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2" name="Image 2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3789731"/>
            <a:ext cx="211226" cy="21122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65760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PULL modeliyle çalışır; Grafana ise kaynak-agnostik bir görselleştirme katmanıdır.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5" name="Image 3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4566971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348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Provisioning ile dashboard/data source kurulumu koda dönüştürülüp otomatikleştirilebilir.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22960" y="525780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8" name="Image 4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5344211"/>
            <a:ext cx="211226" cy="21122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52120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prod sorununda: Seq → Jaeger → Grafana sırasıyla korelasyon kurarak kök nedene ulaşılır.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82296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Sorular?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1296</Words>
  <Application>Microsoft Office PowerPoint</Application>
  <PresentationFormat>Geniş ekran</PresentationFormat>
  <Paragraphs>273</Paragraphs>
  <Slides>18</Slides>
  <Notes>18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Observability</dc:title>
  <dc:subject>PptxGenJS Presentation</dc:subject>
  <dc:creator>Neominal Akademi</dc:creator>
  <cp:lastModifiedBy>Mert Alptekin (Egitici)</cp:lastModifiedBy>
  <cp:revision>2</cp:revision>
  <dcterms:created xsi:type="dcterms:W3CDTF">2026-08-31T12:34:15Z</dcterms:created>
  <dcterms:modified xsi:type="dcterms:W3CDTF">2026-08-31T12:49:30Z</dcterms:modified>
</cp:coreProperties>
</file>