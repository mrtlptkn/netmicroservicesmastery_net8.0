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08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EĞİTİM SUNUMU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tr-TR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Mikroservis Mimarilerinde Altyapılar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Destekleyici Altyapıların Mikroservis Mimarisindeki Rolü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8" name="Image 0" descr="/home/claude/pptx_work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484522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5321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83080" y="470916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1" name="Image 1" descr="/home/claude/pptx_work/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143" y="48452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5321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0" y="470916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4" name="Image 2" descr="/home/claude/pptx_work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263" y="484522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14600" y="5321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703320" y="470916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7" name="Image 3" descr="/home/claude/pptx_work/icons/mem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383" y="484522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474720" y="5321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63440" y="4709160"/>
            <a:ext cx="566928" cy="56692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0" name="Image 4" descr="/home/claude/pptx_work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503" y="484522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34840" y="532180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Microservices Mastery  —  Neominal Microservices Template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Sunumda Neler 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5" name="Image 0" descr="/home/claude/pptx_work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19648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276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105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945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management: mimari, secret engine'ler, auth methods, projemizdeki kod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0" name="Image 1" descr="/home/claude/pptx_work/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01642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67919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86207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Consul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32461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discovery: mimari, consensus/gossip, health check, entegrasyon örneği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5" name="Image 2" descr="/home/claude/pptx_work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06798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373075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91363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Keycloak, Redis, Nginx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4297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üç bileşenin </a:t>
            </a:r>
            <a:r>
              <a:rPr lang="en-US" sz="12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mimarisindeki konumu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0" name="Image 3" descr="/home/claude/pptx_work/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43" y="511954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478231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496519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Bir Arada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53492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mimari şeması ve özet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4" name="Image 0" descr="/home/claude/pptx_work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HashiCorp Vault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Secret Management ve Encryption as a Service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Nedir ve Neden Gerekli?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verilerin (API key, connection string, sertifika, şifre) güvenli şekilde saklanması, erişiminin kontrol edilmesi ve dinamik olarak üretilmesi için kullanılan bir secret management aracıdır.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SIRLARIN DAĞINIK YÖNETİMİ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string'ler appsettings.json'da düz metin olarak kalır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284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rotasyonu manuel, unutulmaya açık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hangi secret'a ne zaman eriştiğinin kaydı (audit) yok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817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Git'e yanlışlıkla commit edilme riski her zaman mevcut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VAULT'UN SAĞLADIKLARI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651760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517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Merkezi, şifrelenmiş secret deposu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328416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3284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TTL/lease ile otomatik süre sonu ve rotasyon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005072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0050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erişim audit log'a kaydedilir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4681728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817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secrets — statik şifre hiç var olmaz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“12 Factor App” metodolojisinin Config prensibi: yapılandırma ve sırlar koddan tamamen ayrılmalıdır.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Vault Mimarisi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istemcinin secret'a ulaşana kadar geçtiği katmanlar: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id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Method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Kimliğini kanıtlar (Token, AppRole, K8s...)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73552" y="2834640"/>
            <a:ext cx="320040" cy="32004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356616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2" name="Shape 9"/>
          <p:cNvSpPr/>
          <p:nvPr/>
        </p:nvSpPr>
        <p:spPr>
          <a:xfrm>
            <a:off x="450342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3" name="Image 1" descr="/home/claude/pptx_work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377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Token'a bağlı, hangi path'lere erişebileceği (ACL)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99632" y="2834640"/>
            <a:ext cx="320040" cy="32004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7" name="Shape 13"/>
          <p:cNvSpPr/>
          <p:nvPr/>
        </p:nvSpPr>
        <p:spPr>
          <a:xfrm>
            <a:off x="649224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Shape 14"/>
          <p:cNvSpPr/>
          <p:nvPr/>
        </p:nvSpPr>
        <p:spPr>
          <a:xfrm>
            <a:off x="742950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9" name="Image 2" descr="/home/claude/pptx_work/icons/list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2377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8368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Engine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62940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Path'e mount edilmiş eklenti (KV, Database, PKI...)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125712" y="2834640"/>
            <a:ext cx="320040" cy="32004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3" name="Shape 18"/>
          <p:cNvSpPr/>
          <p:nvPr/>
        </p:nvSpPr>
        <p:spPr>
          <a:xfrm>
            <a:off x="941832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4" name="Shape 19"/>
          <p:cNvSpPr/>
          <p:nvPr/>
        </p:nvSpPr>
        <p:spPr>
          <a:xfrm>
            <a:off x="10355580" y="2194560"/>
            <a:ext cx="731520" cy="73152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5" name="Image 3" descr="/home/claude/pptx_wor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8460" y="23774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50976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555480" y="34015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Şifrelenmiş veri kalıcı olarak saklanır (Raft/Consul)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KAVRAM: BARRIER VE UNSEAL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Vault'un tüm verisi diskte her zaman şifrelidir (“Barrier” katmanı). Sunucu her başlatıldığında bu şifreleme anahtarına ulaşmak için “unseal” (kilit açma) işlemi gerekir — production'da bu, Shamir's Secret Sharing ile birden fazla kişiye dağıtılmış anahtar parçalarının bir araya getirilmesiyle yapılır.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Engine Türleri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engine'ler, Vault'un belirli bir path'e “mount” edilen eklentileridir — her biri farklı bir secret yönetim modeli sunar.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713232" y="21305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list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263140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06654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(v1/v2)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2066544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key-value secret'lar. v2 versiyonlanmıştır (geçmiş sürümlere dönülebilir).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738360" y="2066544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kullanılan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898648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2" name="Shape 9"/>
          <p:cNvSpPr/>
          <p:nvPr/>
        </p:nvSpPr>
        <p:spPr>
          <a:xfrm>
            <a:off x="713232" y="301752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3" name="Image 1" descr="/home/claude/pptx_wor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15010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295351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953512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üzerine, kısa ömürlü DB kullanıcı adı/şifresi üretir; TTL dolunca otomatik silinir.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738360" y="295351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secret örneği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3785616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Shape 14"/>
          <p:cNvSpPr/>
          <p:nvPr/>
        </p:nvSpPr>
        <p:spPr>
          <a:xfrm>
            <a:off x="713232" y="39044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9" name="Image 2" descr="/home/claude/pptx_work/icons/id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037076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38404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657600" y="384048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kendine yeten bir CA gibi davranır, anlık TLS sertifikası imzalar.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9738360" y="384048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otomasyonu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4672584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4" name="Shape 19"/>
          <p:cNvSpPr/>
          <p:nvPr/>
        </p:nvSpPr>
        <p:spPr>
          <a:xfrm>
            <a:off x="713232" y="47914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5" name="Image 3" descr="/home/claude/pptx_work/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4924044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472744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3657600" y="4727448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“Encryption as a Service” — veriyi Vault hiç saklamadan şifreler/çözer.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9738360" y="472744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içi şifreleme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5559552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0" name="Shape 24"/>
          <p:cNvSpPr/>
          <p:nvPr/>
        </p:nvSpPr>
        <p:spPr>
          <a:xfrm>
            <a:off x="713232" y="567842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31" name="Image 4" descr="/home/claude/pptx_work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5811012"/>
            <a:ext cx="265176" cy="26517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08760" y="561441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3657600" y="5614416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sağlayıcı için kısa ömürlü, otomatik süresi dolan erişim anahtarları üretir.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9738360" y="561441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 entegrasyonu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Methods ve Policies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METHODS — “Kimliğini nasıl kanıtlıyorsun?”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Token: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87452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temel yöntem — statik ya da üretilen bir token. Dev mode'da root token kullanılır.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AppRole: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33172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Servis-servis (machine-to-machine) için ideal — role_id + secret_id ile kimlik doğrulama.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Kubernetes: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8892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Pod'un service account JWT'si, Kubernetes API'sine karşı doğrulanır.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LDAP / OIDC: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24612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kullanıcılar için — şirket kimlik sağlayıcısı (Keycloak dahil) ile SSO.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— “Kimliğini kanıtladın, peki neye erişebilirsin?”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159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Policy'ler HCL formatında, path bazlı, en az yetki (least privilege) prensibiyle yazılır: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7680960" cy="1463040"/>
          </a:xfrm>
          <a:prstGeom prst="roundRect">
            <a:avLst>
              <a:gd name="adj" fmla="val 3125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"secret/data/demo-app" {
</a:t>
            </a: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capabilities = ["read"]
</a:t>
            </a:r>
            <a:r>
              <a:rPr lang="en-US" sz="145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75488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policy, sadece “secret/data/demo-app” yolunu OKUMA izni verir — yazma, silme veya başka bir path'e erişim yasaktır.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Mode vs Production Mode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MODE (bu projede kullanılan)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658368"/>
          </a:xfrm>
          <a:prstGeom prst="roundRect">
            <a:avLst>
              <a:gd name="adj" fmla="val 41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0" y="222199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488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içi (in-memory), restart'ta sıfırlanır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22199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14884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(Integrated Storage) veya Consul — kalıcı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1064240" cy="658368"/>
          </a:xfrm>
          <a:prstGeom prst="roundRect">
            <a:avLst>
              <a:gd name="adj" fmla="val 41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8036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0" y="295351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28803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(unseal adımı atlanır)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95351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88036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— Shamir's Secret Sharing (N parçadan M'i gerekir)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64240" cy="658368"/>
          </a:xfrm>
          <a:prstGeom prst="roundRect">
            <a:avLst>
              <a:gd name="adj" fmla="val 41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61188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0" y="368503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36118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üretilmiş root token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68503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61188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AppRole / Kubernetes / OIDC — root token günlük kullanılmaz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1064240" cy="658368"/>
          </a:xfrm>
          <a:prstGeom prst="roundRect">
            <a:avLst>
              <a:gd name="adj" fmla="val 41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3434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0" y="441655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9" name="Text 27"/>
          <p:cNvSpPr txBox="1"/>
          <p:nvPr/>
        </p:nvSpPr>
        <p:spPr>
          <a:xfrm>
            <a:off x="2148840" y="43434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TLS yok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441655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434340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zorunlu, mTLS ile ek güvenlik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41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0749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Topoloji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0" y="514807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5074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node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5148072"/>
            <a:ext cx="0" cy="512064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507492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cluster (birden fazla node, Raft ile senkron)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Projemizde Vault: Kod Üzerinden İnceleme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VaultSecretService.cs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760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IAuthMethodInfo authMethod =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TokenAuthMethodInfo(token);
var settings = new VaultClientSettings(
    address, authMethod);
_client = new VaultClient(settings);
await _client.V1.Secrets.KeyValue.V2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.ReadSecretAsync(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path: path,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mountPoint: "secret");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03720" y="1508760"/>
            <a:ext cx="4709160" cy="3246120"/>
          </a:xfrm>
          <a:prstGeom prst="roundRect">
            <a:avLst>
              <a:gd name="adj" fmla="val 16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Çeken Noktalar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0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21396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635240" y="200253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TokenAuthMethodInfo: dev mode'da root token kullanıyoruz — prod'da AppRole olmalı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0" y="2834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3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291693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35240" y="277977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v2 API'si "secret/data/..." path yapısını otomatik yönetir (mountPoint: "secret")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132320" y="3611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6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369417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35240" y="355701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ReadSecretAsync / WriteSecretAsync — endpoint'lerimiz bu ikisini doğrudan sarmalıyor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029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Akışı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4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/demo/vault/secret/{path}</a:t>
            </a:r>
            <a:r>
              <a:rPr lang="en-US" sz="115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Uygulaması</a:t>
            </a:r>
            <a:r>
              <a:rPr lang="en-US" sz="115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Token ile kimlik doğrular  →  </a:t>
            </a:r>
            <a:r>
              <a:rPr lang="en-US" sz="1150" b="1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v2 Engine</a:t>
            </a:r>
            <a:r>
              <a:rPr lang="en-US" sz="115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secret/data/{path}  →  değer döner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4" name="Image 0" descr="/home/claude/pptx_work/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HashiCorp Consul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Discovery, Health Checking ve Service Mesh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 Nedir ve Neden Gerekli?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ortamlarında service discovery, health checking ve merkezi key-value konfigürasyon deposu sağlayan bir araçtır.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Konfigürasyon (Sorunlu)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029200" cy="1417320"/>
          </a:xfrm>
          <a:prstGeom prst="roundRect">
            <a:avLst>
              <a:gd name="adj" fmla="val 322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7A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"OrderService": "10.0.1.14:5002"
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yeniden oluşturulunca IP değişir → config elle güncellenmeli, servis instance sayısı arttıkça imkansızlaşır.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ile Dinamik Keşif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51460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51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0B5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DNS: order-service.service.consul
</a:t>
            </a:r>
            <a:endParaRPr lang="en-US" sz="12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güncel ve SADECE sağlıklı instance'ların adreslerini döner — hiçbir yerde IP hardcode edilmez.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80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Consul, Netflix Eureka veya Kubernetes'in kendi Service objelerinin yaptığı işi, platform-bağımsız (VM, container, bare-metal fark etmeksizin) şekilde sağlar.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 Mimarisi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node'da bir Consul Agent çalışır; iki modda görev alabilir: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1965960"/>
          </a:xfrm>
          <a:prstGeom prst="roundRect">
            <a:avLst>
              <a:gd name="adj" fmla="val 3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AGENT (3-5 adet)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state'ini tutar, Raft konsensüs protokolüyle birbirleriyle senkronize olur. Bir lider (leader) seçilir; tüm yazma işlemleri lider üzerinden geçer.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65960" y="338328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9" name="Image 0" descr="/home/claude/pptx_wor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830" y="3486150"/>
            <a:ext cx="251460" cy="2514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88920" y="338328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1" name="Image 1" descr="/home/claude/pptx_wor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90" y="3486150"/>
            <a:ext cx="251460" cy="2514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11880" y="338328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3" name="Image 2" descr="/home/claude/pptx_wor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3486150"/>
            <a:ext cx="251460" cy="2514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09360" y="192024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AGENT (her node'da)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2377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servisleri kaydeder, health check'leri çalıştırır, sorguları server agent'lara iletir. Doğrudan cluster state'i tutmaz.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6352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8" name="Image 3" descr="/home/claude/pptx_wor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0" y="3486150"/>
            <a:ext cx="251460" cy="2514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45820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0" name="Image 4" descr="/home/claude/pptx_wor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070" y="3486150"/>
            <a:ext cx="251460" cy="2514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28116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2" name="Image 5" descr="/home/claude/pptx_wor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3486150"/>
            <a:ext cx="251460" cy="25146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1041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4" name="Image 6" descr="/home/claude/pptx_wor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990" y="3486150"/>
            <a:ext cx="251460" cy="2514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40080" y="4160520"/>
            <a:ext cx="10927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6" name="Shape 17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7" name="Image 7" descr="/home/claude/pptx_wor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560570"/>
            <a:ext cx="251460" cy="2514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298448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(Raft)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1298448" y="47365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Server'lar arasında lider seçimi ve state replikasyonu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42976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31" name="Image 8" descr="/home/claude/pptx_work/icons/broadc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410" y="4560570"/>
            <a:ext cx="251460" cy="25146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956048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Gossip (Serf/SWIM)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4956048" y="47365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keşfi, failure detection, event yayını (LAN + WAN pool)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79552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35" name="Image 9" descr="/home/claude/pptx_work/icons/list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4560570"/>
            <a:ext cx="251460" cy="25146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613648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8613648" y="47365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Kayıtlı tüm servislerin ve node'ların merkezi listesi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Consul'un 4 Temel Yeteneği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6" name="Image 0" descr="/home/claude/pptx_work/icon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74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veya HTTP API üzerinden, bir servisin adını verip sağlıklı instance adreslerini alma.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0" name="Shape 7"/>
          <p:cNvSpPr/>
          <p:nvPr/>
        </p:nvSpPr>
        <p:spPr>
          <a:xfrm>
            <a:off x="653796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1" name="Image 1" descr="/home/claude/pptx_work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874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9748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TCP, gRPC, Script veya TTL check'leri ile servislerin canlılığını periyodik doğrulama.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5" name="Shape 11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6" name="Image 2" descr="/home/claude/pptx_work/icons/list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Store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120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Merkezi, tutarlı (Raft ile) key-value konfigürasyon ve feature flag deposu.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0" name="Shape 15"/>
          <p:cNvSpPr/>
          <p:nvPr/>
        </p:nvSpPr>
        <p:spPr>
          <a:xfrm>
            <a:off x="6537960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1" name="Image 3" descr="/home/claude/pptx_wor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480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(Connect)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5120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proxy (Envoy) ile servisler arası otomatik mTLS şifreleme ve trafik yönetimi.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Registration ve Health Check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27048" y="20116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1854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açılışta kendini local Consul agent'a kaydeder (isim, adres, port, health check tanımı)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18688" y="2697480"/>
            <a:ext cx="274320" cy="292608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3456432" y="17373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2" name="Text 9"/>
          <p:cNvSpPr txBox="1"/>
          <p:nvPr/>
        </p:nvSpPr>
        <p:spPr>
          <a:xfrm>
            <a:off x="56509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34840" y="20116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4" name="Image 1" descr="/home/claude/pptx_work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18541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93592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tanımlı aralıkla health check'i çalıştırır (örn. HTTP GET /health)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2697480"/>
            <a:ext cx="274320" cy="292608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Shape 14"/>
          <p:cNvSpPr/>
          <p:nvPr/>
        </p:nvSpPr>
        <p:spPr>
          <a:xfrm>
            <a:off x="6364224" y="17373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9" name="Text 15"/>
          <p:cNvSpPr txBox="1"/>
          <p:nvPr/>
        </p:nvSpPr>
        <p:spPr>
          <a:xfrm>
            <a:off x="8558784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342632" y="20116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1" name="Image 2" descr="/home/claude/pptx_wor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218541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55664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501384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Catalog'a yazılır: passing / warning / critical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9034272" y="2697480"/>
            <a:ext cx="274320" cy="292608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5" name="Shape 20"/>
          <p:cNvSpPr/>
          <p:nvPr/>
        </p:nvSpPr>
        <p:spPr>
          <a:xfrm>
            <a:off x="9272016" y="173736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6" name="Text 21"/>
          <p:cNvSpPr txBox="1"/>
          <p:nvPr/>
        </p:nvSpPr>
        <p:spPr>
          <a:xfrm>
            <a:off x="11466576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250424" y="2011680"/>
            <a:ext cx="694944" cy="694944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8" name="Image 3" descr="/home/claude/pptx_work/icons/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185416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63456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9409176" y="3200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bir servis DNS/API ile sorguladığında SADECE “passing” durumundaki instance'lar döner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TÜRLERİ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4800600"/>
            <a:ext cx="2697480" cy="1234440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4" name="Text 28"/>
          <p:cNvSpPr txBox="1"/>
          <p:nvPr/>
        </p:nvSpPr>
        <p:spPr>
          <a:xfrm>
            <a:off x="73152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731520" y="5257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Periyodik GET isteği; 2xx = healthy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3337560" y="4800600"/>
            <a:ext cx="2697480" cy="1234440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7" name="Text 31"/>
          <p:cNvSpPr txBox="1"/>
          <p:nvPr/>
        </p:nvSpPr>
        <p:spPr>
          <a:xfrm>
            <a:off x="352044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3520440" y="5257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Portun açık/kapalı olduğunu kontrol eder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126480" y="4800600"/>
            <a:ext cx="2697480" cy="1234440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40" name="Text 34"/>
          <p:cNvSpPr txBox="1"/>
          <p:nvPr/>
        </p:nvSpPr>
        <p:spPr>
          <a:xfrm>
            <a:off x="630936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gRPC</a:t>
            </a:r>
            <a:endParaRPr lang="en-US" sz="1250" dirty="0"/>
          </a:p>
        </p:txBody>
      </p:sp>
      <p:sp>
        <p:nvSpPr>
          <p:cNvPr id="41" name="Text 35"/>
          <p:cNvSpPr txBox="1"/>
          <p:nvPr/>
        </p:nvSpPr>
        <p:spPr>
          <a:xfrm>
            <a:off x="6309360" y="5257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bir komut/gRPC health protokolü çalıştırır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8915400" y="4800600"/>
            <a:ext cx="2697480" cy="1234440"/>
          </a:xfrm>
          <a:prstGeom prst="roundRect">
            <a:avLst>
              <a:gd name="adj" fmla="val 37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43" name="Text 37"/>
          <p:cNvSpPr txBox="1"/>
          <p:nvPr/>
        </p:nvSpPr>
        <p:spPr>
          <a:xfrm>
            <a:off x="9098280" y="4937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250" dirty="0"/>
          </a:p>
        </p:txBody>
      </p:sp>
      <p:sp>
        <p:nvSpPr>
          <p:cNvPr id="44" name="Text 38"/>
          <p:cNvSpPr txBox="1"/>
          <p:nvPr/>
        </p:nvSpPr>
        <p:spPr>
          <a:xfrm>
            <a:off x="9098280" y="5257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Servisin kendisi periyodik “ben hâlâ hayattayım” sinyali göndermelidir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Projemizde Consul: Durum ve Entegrasyon Önerisi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Durum Tespiti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şu an docker-compose'da sadece dev-mode bir agent olarak ayakta — .NET uygulaması kendini HENÜZ bir servis olarak kaydetmiyor. Aşağıdaki kod, bunun nasıl yapılabileceğine dair bir ÖNERİDİR, projede uygulanmamıştır.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3246120"/>
          </a:xfrm>
          <a:prstGeom prst="roundRect">
            <a:avLst>
              <a:gd name="adj" fmla="val 169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334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Self-Registration (Consul.NET client ile) — henüz uygulanmadı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99232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consulClient = new ConsulClient(cfg =&gt;
    cfg.Address = new Uri("http://consul:8500"));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consulClient.Agent.ServiceRegister(new AgentServiceRegistration {
    ID = "neominal-app-1",
    Name = "neominal-app",
    Address = "app",
    Port = 8080,
    Check = new AgentServiceCheck {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 = "http://app:8080/health",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Interval = TimeSpan.FromSeconds(15)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değişiklik yapılırsa: Consul UI'daki “Services” sekmesinde “neominal-app” görünür, health durumu otomatik izlenir ve diğer servisler bu adresi DNS ile bulabilir.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>
              <a:alpha val="45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" name="Shape 1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4" name="Image 0" descr="/home/claude/pptx_work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46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Destekleyici Altyapılar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2519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Keycloak, Redis ve Nginx'in Mikroservis Mimarisindeki Yeri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Nedir ve Neden Gerekli?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kaynaklı bir Identity and Access Management (IAM) çözümüdür. OAuth2, OpenID Connect (OIDC) ve SAML gibi standart protokolleri destekler.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HER SERVİS KENDİ KİMLİK SİSTEMİNİ KURARSA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serviste ayrı kullanıcı tablosu, ayrı şifre hash'leme mantığı tekrarlanır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284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5 farklı serviste 5 kez login olmak zorunda kalır (SSO yok)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sıfırlama, MFA, brute-force koruması her serviste yeniden yazılır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817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Yetkilendirme kuralları merkezi değil, tutarsızlaşmaya açık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6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MERKEZİ IDENTITY PROVIDER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651760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517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yerde kullanıcı/rol/yetki yönetimi (realm)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3328416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3284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SSO: bir kez giriş, tüm uygulamalarda geçerli oturum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005072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0050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protokoller (OAuth2/OIDC) sayesinde her client tipiyle uyumlu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4681728"/>
            <a:ext cx="5394960" cy="566928"/>
          </a:xfrm>
          <a:prstGeom prst="roundRect">
            <a:avLst>
              <a:gd name="adj" fmla="val 6452"/>
            </a:avLst>
          </a:prstGeom>
          <a:solidFill>
            <a:srgbClr val="E9F7EF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817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5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IdP federasyonu (Google, Azure AD, LDAP) hazır destekli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Keycloak, Red Hat tarafından da desteklenen (RH-SSO), yaygın kullanılan bir açık kaynak projesidir.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Mimarisi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Keycloak kurulumunun temel yapi taşları: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2788920"/>
          </a:xfrm>
          <a:prstGeom prst="roundRect">
            <a:avLst>
              <a:gd name="adj" fmla="val 26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- izole yonetim alani (kullanicilar, roller, client'lar bu sinir içinde yaşar)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8" name="Shape 6"/>
          <p:cNvSpPr/>
          <p:nvPr/>
        </p:nvSpPr>
        <p:spPr>
          <a:xfrm>
            <a:off x="1805940" y="256032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9" name="Image 0" descr="/home/claude/pptx_work/icons/id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7203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6012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6393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Keycloak'a baglanan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tanımı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20440" y="23774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3" name="Shape 10"/>
          <p:cNvSpPr/>
          <p:nvPr/>
        </p:nvSpPr>
        <p:spPr>
          <a:xfrm>
            <a:off x="4457700" y="256032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4" name="Image 1" descr="/home/claude/pptx_work/icons/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7203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6393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ya da federe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hesabi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72200" y="23774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Shape 14"/>
          <p:cNvSpPr/>
          <p:nvPr/>
        </p:nvSpPr>
        <p:spPr>
          <a:xfrm>
            <a:off x="7109460" y="256032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9" name="Image 2" descr="/home/claude/pptx_work/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7203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6364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6393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ya da clientseviyesinde yetki etiketi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823960" y="2377440"/>
            <a:ext cx="2514600" cy="2103120"/>
          </a:xfrm>
          <a:prstGeom prst="roundRect">
            <a:avLst>
              <a:gd name="adj" fmla="val 26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3" name="Shape 18"/>
          <p:cNvSpPr/>
          <p:nvPr/>
        </p:nvSpPr>
        <p:spPr>
          <a:xfrm>
            <a:off x="9761220" y="2560320"/>
            <a:ext cx="640080" cy="64008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4" name="Image 3" descr="/home/claude/pptx_work/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7203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915400" y="3291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961120" y="36393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Google/Azure AD/LDAP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federasyon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Console: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Realm/Client/User/Role yönetiminin yapıldığı web arayuzu (bu projede http://localhost:8180). Bir Keycloak instance'ında birden fazla realm barindirilabilir - bu da </a:t>
            </a:r>
            <a:r>
              <a:rPr lang="en-US" sz="12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senaryolarina imkan tanir: her musteri/departman kendi realm'ine sahip olabilir.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Token Yapısı ve Grant Türleri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ANATOMİSİ - 3 PARÇA, NOKTAYLA AYRILMIŞ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64240" cy="621792"/>
          </a:xfrm>
          <a:prstGeom prst="roundRect">
            <a:avLst>
              <a:gd name="adj" fmla="val 7353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642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eyJhbGciOiJSUzI1NiJ9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6C4E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eyJzdWIiOiIxMjM0NTY3ODkwIn0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SflKxwRJSMeKKF2QT4fw...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(teal)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alg: RS256, typ: JWT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3591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(mor)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iss, sub, exp, realm_access.roles...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3591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(turuncu)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Keycloak'un private key'iyle imzalanır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61188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192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ömürlü (dk), API çağrılarında Bearer olarak kullanılır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971800"/>
            <a:ext cx="361188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3192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ömürlü, yeni access token almak için kullanılır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2971800"/>
            <a:ext cx="3611880" cy="777240"/>
          </a:xfrm>
          <a:prstGeom prst="roundRect">
            <a:avLst>
              <a:gd name="adj" fmla="val 58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Token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3192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OIDC'ye özgü, kullanıcı bilgisini taşır (UI gösterimi için)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41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AUTHORIZATION GRANT TÜRLERİ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343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+ PKCE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4343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mobil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4343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client, code interception'a karşı korumalı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965192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9651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49651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Servis-servis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49651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yok, client_id + secret ile doğrudan token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586984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58698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55869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flow'ların devami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55869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Kullanıcıyı tekrar login ettirmeden yeni token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Core ile Keycloak Entegrasyonu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3383280"/>
          </a:xfrm>
          <a:prstGeom prst="roundRect">
            <a:avLst>
              <a:gd name="adj" fmla="val 1622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- JwtBearer Middleware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
    .AddAuthentication(JwtBearerDefaults
        .AuthenticationScheme)
    .AddJwtBearer(options =&gt;
    {
</a:t>
            </a:r>
            <a:r>
              <a:rPr lang="en-US" sz="110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options.Authority =
            "http://localhost:8180/realms/neominal";
        options.Audience = "neominal-app";
    });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app.UseAuthentication();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app.UseAuthorization();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78040" y="1508760"/>
            <a:ext cx="4434840" cy="3383280"/>
          </a:xfrm>
          <a:prstGeom prst="roundRect">
            <a:avLst>
              <a:gd name="adj" fmla="val 162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45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Edilmesi Gereken Nokta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1488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Keycloak, rolleri JWT içine realm_access.roles gibi iç içe (nested) bir claim olarak koyar. ASP.NET Core'un varsayılan rol mapping'i bunu doğrudan anlamaz.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154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küçük bir IClaimsTransformation implementasyonu ile Keycloak rollerini .NET'in ClaimTypes.Role'üne eşleyin.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39776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koruma: .RequireAuthorization() (minimal API) veya [Authorize] attribute'u.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tabanlı, cookie-session'li klasik web uygulamaları için Microsoft.AspNetCore.Authentication.OpenIdConnect paketiyle tam bir Authorization Code akışı kurulabilir.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Projemizde Keycloak: Durum ve Yol Haritası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Durum Tespiti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019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container'i ayakta (dev mode) ama henuz bir realm/client tanimli değil - .NET uygulaması Keycloak üzerinden JWT doğrulaması yapmıyor.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İÇİN YAPILMASI GEREKENLER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44368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Console'da (localhost:8180) yeni bir realm olustur (örn. neominal-realm)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02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74720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realm içinde bir client tanimla (neominal-app, confidential, redirect URI'ler ile)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005072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appsettings.json'a Authority/Audience bilgilerini ekle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628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35424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Program.cs'e JwtBearer middleware'i kur (bkz. önceki slayt)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93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065776"/>
            <a:ext cx="10332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Korunması gereken endpoint'lere .RequireAuthorization() ekle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Nedir ve Neden Gerekli?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içinde (in-memory) çalışan bir key-value veri deposudur. Disk tabanlı veritabanlarına göre çok daha hızlıdır çünkü veriyi RAM'de tutar.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777240" y="24871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6471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Event Loop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28600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Komutlar sırayla, tek thread'de işlenir (epoll/kqueue ile I/O multiplexing) - bu sayede çoğu operasyon doğal olarak atomiktir, race condition riski azalır.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777240" y="38587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2" name="Image 1" descr="/home/claude/pptx_work/icons/list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0187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(Opsiyonel)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365760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RDB: periyodik snapshot dosyası. AOF: her yazma komutunun log'landığı append-only dosya. İkisi birden de kullanılabilir.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mikroservislerde gerekli? Her istekte asıl veritabanına gitmek yavaş ve pahalıdır - paylaşılan, çok hızlı bir 'ortak bellek' katmanına ihtiyaç vardır.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Veri Yapıları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sadece string saklayan bir key-value değildir - zengin bir veri yapısı seti sunar.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9659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key-value; INCR ile atomik sayaç senaryoları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19659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cache-aside'da kullandığımız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9748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6974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eleman listesi; LPUSH/RPOP ile kuyruk/stack simülasyonu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6974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iş kuyruğu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2900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42900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Benzersiz, sırasız eleman koleksiyonu; hızlı üyelik testi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42900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kullanıcı X grubunda mı?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41605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elemanın bir skoru olduğu sıralı koleksiyon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leaderboard, rate limiting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8920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89204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key altında çoklu field (nested obje gibi)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48920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profilini tek key'de tutma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555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62356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56235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 log yapısı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56235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event log (Kafka'ya benzer, hafif)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Redis'in Mikroservislerdeki 4 Rolü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 mimarisinde tek bir role hapsolmaz - dört farklı problemi aynı anda çözebilir.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3545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1945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(Cache-Aside)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okunan, nadiren değişen veriyi veritabanı önünde tutarak yükü azaltir. Risk: 'stale data' - TTL süresi doğru seçilmeli.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2" name="Image 1" descr="/home/claude/pptx_work/icons/id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3545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1945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8803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servis instance'ları arasında oturum bilgisini paylaşır - hangi instance'a düşerse düşsün oturum korunur; 'sticky session' ihtiyacını ortadan kaldırır.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6" name="Shape 12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7" name="Image 2" descr="/home/claude/pptx_work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5948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44348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Lock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1206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instance'ın aynı işi aynı anda yapmasını engeller (SETNX ile kritik bölge kilidi).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1" name="Shape 16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2" name="Image 3" descr="/home/claude/pptx_work/icons/broad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5948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44348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51206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gecikmeli, hafif event bildirimi. 'Fire-and-forget' doğası vardır: subscriber o an dinlemiyorsa mesaj kaybolur - Kafka/RabbitMQ'nun aksine kalıcı değildir.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Stratejileri ve Distributed Lock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STRATEJİLERİ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Cache-Aside: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7830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önce cache'e bakar, yoksa DB'den çekip cache'e yazar (bu projede kullanılan)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Write-Through: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22199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 işlemi hem DB'ye hem cache'e eşzamanlı yapılır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609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Write-Behind: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660904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Cache'e hemen yazılır, DB'ye asenkron/gecikmeli yazılır - hız kazanır ama veri kaybı riski taşır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dolduğunda hangi key silinir? - EVICTION POLICY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noeviction - allkeys-lru - allkeys-lfu - volatile-ttl   LRU: en uzun süredir kullanılmayanı sil, LFU: en az kullanılanı sil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LOCK - DERİNLEMESİNE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yöntem: </a:t>
            </a: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key value NX EX 30 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sadece key yoksa yazar (kilidi alır), 30sn sonra otomatik düşer. Ama tek Redis node'u </a:t>
            </a:r>
            <a:r>
              <a:rPr lang="en-US" sz="115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'dir.
</a:t>
            </a: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Redlock Algoritması: </a:t>
            </a: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ortamında birden fazla bağımsız Redis instance'ında (örn. 5) çoğunluğun (3/5) kilidi vermesi beklenir - tek node'un çökmesi kilidi geçersiz kılmaz.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Projemizde Redis: Kod Üzerinden İnceleme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3383280"/>
          </a:xfrm>
          <a:prstGeom prst="roundRect">
            <a:avLst>
              <a:gd name="adj" fmla="val 1622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276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DemoEndpoints.cs - Cache-Aside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943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db = redis.GetDatabase();
var cached = await db.StringGetAsync(key);
</a:t>
            </a:r>
            <a:r>
              <a:rPr lang="en-US" sz="120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(cached.HasValue)
    return Results.Ok(cached);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db.StringSetAsync(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key, value,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TimeSpan.FromMinutes(1));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86600" y="1508760"/>
            <a:ext cx="4526280" cy="3383280"/>
          </a:xfrm>
          <a:prstGeom prst="roundRect">
            <a:avLst>
              <a:gd name="adj" fmla="val 162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Çeken Noktalar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2057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0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213969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200253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StackExchange.Redis: .NET için resmi, yüksek performanslı Redis client'i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0" y="2926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3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300837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18120" y="287121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IConnectionMultiplexer: tekil, uzun ömürlü bağlantı havuzu - her istekte yeniden bağlanılmaz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315200" y="3794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6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387705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18120" y="373989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= 1 dakika: cache-aside senaryosunu kısa sürede gözlemleyebilmek için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C4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/demo/cache/{key}</a:t>
            </a:r>
            <a:r>
              <a:rPr lang="en-US" sz="110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Redis'te var mi?  -&gt;  </a:t>
            </a:r>
            <a:r>
              <a:rPr lang="en-US" sz="1100" b="1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Varsa: </a:t>
            </a:r>
            <a:r>
              <a:rPr lang="en-US" sz="110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source=redis-cache döner   </a:t>
            </a:r>
            <a:r>
              <a:rPr lang="en-US" sz="1100" b="1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Yoksa: </a:t>
            </a:r>
            <a:r>
              <a:rPr lang="en-US" sz="110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üretilir, 1 dk TTL ile yazılır, source=generated döner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Nedir ve Neden Gerekli?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performanslı bir web sunucusu ve reverse proxy'dir. Event-driven, asenkron mimarisiyle binlerce eşzamanlı bağlantıyı tek worker process'te yönetebilir.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PROXY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212080" cy="1188720"/>
          </a:xfrm>
          <a:prstGeom prst="roundRect">
            <a:avLst>
              <a:gd name="adj" fmla="val 384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adına dış dünyaya çıkar - istemcinin kimliğini gizler (örn. kurumsal internet proxy'si).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(Nginx'in rolü)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394960" cy="118872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dünya adına backend'e girer - backend'in kimliğini/topolojisini gizler, tek giriş noktası sağlar.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C10K PROBLEMİ VE NGINX'İN ÇIKIŞ HİKAYESİ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gibi 'thread-per-connection' modelindeki sunucular, binlerce eşzamanlı bağlantıda (C10K problemi) bellek/CPU tükenmesi yaşar. Nginx, tek thread'de non-blocking I/O (epoll/kqueue) kullanarak bu sınırı ortadan kaldırmak için tasarlandı.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Mimarisi: Master/Worker Process Modeli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tek bir işlem yerine iki farklı rol üstlenen process'lerden oluşur: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3545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PROCESS (1 adet)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35915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dosyasını okur, worker process'leri başlatır/yönetir, portlara bind eder, sinyalleri işler (reload, restart) - kendisi hiç trafik işlemez.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10881360" cy="16916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868680" y="4069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2" name="Image 1" descr="/home/claude/pptx_work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2748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2024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(CPU çekirdek sayısı kadar)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920240" y="4279392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bağlantıları işler. Her worker tek thread'de çalışır ama event loop (epoll/kqueue) ile binlerce bağlantıyı non-blocking şekilde eşzamanlı yönetir - bir bağlantının I/O beklemesi diğerlerini bloklamaz.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Yapılandırma Kavramları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 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sanal sunucu tanımı - listen (port) ve server_name (host) belirtir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762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{ 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762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bazlı routing kuralı - hangi isteğin nereye gideceğini belirler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980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{ }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7980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backend havuzu tanımı - birden fazla sunucu adresini gruplar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198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proxy_pass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4198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İsteği belirtilen upstream/adrese yönlendiren direktif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PROJEMİZDEKİ GERÇEK nginx.conf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1920240"/>
          </a:xfrm>
          <a:prstGeom prst="roundRect">
            <a:avLst>
              <a:gd name="adj" fmla="val 238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1772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dotnet_app { server host.docker.internal:8080; }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
    listen 80;
    location / {
        proxy_pass http://dotnet_app;
        proxy_set_header X-Forwarded-For $proxy_add_x_forwarded_for;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Balancing Algoritmaları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havuzunda birden fazla sunucu varsa, Nginx trafiği hangi algoritmayla dağıtacağını seçebilir: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4460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2860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- istekler sırayla, eşit dağıtımla her sunucuya gönderilir.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653796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2" name="Image 1" descr="/home/claude/pptx_work/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4460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2860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Connections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9718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 en az aktif bağlantısı olan sunucuya yönlendirilir - yavaş isteklerde daha adil.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6" name="Shape 12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7" name="Image 2" descr="/home/claude/pptx_work/icons/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5948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44348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Hash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1206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client IP'si her zaman aynı sunucuya gider - session affinity (sticky session) sağlar.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1" name="Shape 16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2" name="Image 3" descr="/home/claude/pptx_work/icons/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5948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44348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51206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Sunuculara farklı ağırlık (kapasite) atanır - güçlü sunucu daha fazla istek alır.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Projemizde Nginx: Akış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27048" y="196596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7" name="Image 0" descr="/home/claude/pptx_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13969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Gelir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http://localhost:8090 adresine istek atar (Nginx'in dinlediği host portu)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18688" y="2651760"/>
            <a:ext cx="274320" cy="292608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1" name="Shape 8"/>
          <p:cNvSpPr/>
          <p:nvPr/>
        </p:nvSpPr>
        <p:spPr>
          <a:xfrm>
            <a:off x="3456432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2" name="Text 9"/>
          <p:cNvSpPr txBox="1"/>
          <p:nvPr/>
        </p:nvSpPr>
        <p:spPr>
          <a:xfrm>
            <a:off x="5650992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34840" y="196596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4" name="Image 1" descr="/home/claude/pptx_work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13969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Ekleme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593592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X-Forwarded-For / X-Forwarded-Proto header'larını ekleyip isteği iletir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2651760"/>
            <a:ext cx="274320" cy="292608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8" name="Shape 14"/>
          <p:cNvSpPr/>
          <p:nvPr/>
        </p:nvSpPr>
        <p:spPr>
          <a:xfrm>
            <a:off x="6364224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9" name="Text 15"/>
          <p:cNvSpPr txBox="1"/>
          <p:nvPr/>
        </p:nvSpPr>
        <p:spPr>
          <a:xfrm>
            <a:off x="855878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342632" y="196596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1" name="Image 2" descr="/home/claude/pptx_work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213969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55664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Uygulaması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501384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proxy_pass ile host.docker.internal:8080'e (uygulamanın gerçek portu) yönlendirilir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034272" y="2651760"/>
            <a:ext cx="274320" cy="292608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5" name="Shape 20"/>
          <p:cNvSpPr/>
          <p:nvPr/>
        </p:nvSpPr>
        <p:spPr>
          <a:xfrm>
            <a:off x="9272016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6" name="Text 21"/>
          <p:cNvSpPr txBox="1"/>
          <p:nvPr/>
        </p:nvSpPr>
        <p:spPr>
          <a:xfrm>
            <a:off x="1146657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250424" y="1965960"/>
            <a:ext cx="694944" cy="694944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8" name="Image 3" descr="/home/claude/pptx_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139696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63456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 Döner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9409176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Uygulamanın cevabı aynı yoldan istemciye geri iletilir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2" name="Shape 26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6E5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3" name="Text 27"/>
          <p:cNvSpPr txBox="1"/>
          <p:nvPr/>
        </p:nvSpPr>
        <p:spPr>
          <a:xfrm>
            <a:off x="777240" y="44988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İki Farklı Port Var? (8090 vs 8080)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7724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localhost:8080 -&gt; doğrudan uygulamaya gider (Nginx'i bypass eder, debug için). localhost:8090 -&gt; Nginx üzerinden uygulamaya gider (gerçek prod akışını simüle eder). Prod'da sadece Nginx'in portu dışarıya açık olur.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RESIM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Hepsi Bir Arada: Genel Mimari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6" name="Image 0" descr="/home/claude/pptx_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77440" y="1920240"/>
            <a:ext cx="411480" cy="32004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548640" cy="54864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1" name="Image 1" descr="/home/claude/pptx_wor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036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09160" y="1920240"/>
            <a:ext cx="411480" cy="32004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4" name="Shape 10"/>
          <p:cNvSpPr/>
          <p:nvPr/>
        </p:nvSpPr>
        <p:spPr>
          <a:xfrm>
            <a:off x="5212080" y="1280160"/>
            <a:ext cx="2103120" cy="1554480"/>
          </a:xfrm>
          <a:prstGeom prst="roundRect">
            <a:avLst>
              <a:gd name="adj" fmla="val 4118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5" name="Shape 11"/>
          <p:cNvSpPr/>
          <p:nvPr/>
        </p:nvSpPr>
        <p:spPr>
          <a:xfrm>
            <a:off x="5989320" y="1463040"/>
            <a:ext cx="548640" cy="548640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6" name="Image 2" descr="/home/claude/pptx_work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600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1208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Uygulaması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91840" y="2880360"/>
            <a:ext cx="320040" cy="411480"/>
          </a:xfrm>
          <a:prstGeom prst="up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doğrulama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423160" y="35661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1" name="Shape 16"/>
          <p:cNvSpPr/>
          <p:nvPr/>
        </p:nvSpPr>
        <p:spPr>
          <a:xfrm>
            <a:off x="2697480" y="36758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2" name="Image 3" descr="/home/claude/pptx_work/icons/user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3210" y="3801618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291840" y="3794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452360" y="1600200"/>
            <a:ext cx="365760" cy="27432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5" name="Shape 19"/>
          <p:cNvSpPr/>
          <p:nvPr/>
        </p:nvSpPr>
        <p:spPr>
          <a:xfrm>
            <a:off x="7909560" y="128016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6" name="Shape 20"/>
          <p:cNvSpPr/>
          <p:nvPr/>
        </p:nvSpPr>
        <p:spPr>
          <a:xfrm>
            <a:off x="809244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7" name="Image 4" descr="/home/claude/pptx_work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15773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6968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886968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secret'lar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452360" y="2697480"/>
            <a:ext cx="365760" cy="27432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1" name="Shape 24"/>
          <p:cNvSpPr/>
          <p:nvPr/>
        </p:nvSpPr>
        <p:spPr>
          <a:xfrm>
            <a:off x="7909560" y="23774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2" name="Shape 25"/>
          <p:cNvSpPr/>
          <p:nvPr/>
        </p:nvSpPr>
        <p:spPr>
          <a:xfrm>
            <a:off x="809244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33" name="Image 5" descr="/home/claude/pptx_work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460" y="267462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6968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8869680" y="28163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7452360" y="3794760"/>
            <a:ext cx="365760" cy="274320"/>
          </a:xfrm>
          <a:prstGeom prst="rightArrow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7" name="Shape 29"/>
          <p:cNvSpPr/>
          <p:nvPr/>
        </p:nvSpPr>
        <p:spPr>
          <a:xfrm>
            <a:off x="7909560" y="347472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8" name="Shape 30"/>
          <p:cNvSpPr/>
          <p:nvPr/>
        </p:nvSpPr>
        <p:spPr>
          <a:xfrm>
            <a:off x="8092440" y="3611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39" name="Image 6" descr="/home/claude/pptx_work/icons/mem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2460" y="3771900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86968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41" name="Text 32"/>
          <p:cNvSpPr txBox="1"/>
          <p:nvPr/>
        </p:nvSpPr>
        <p:spPr>
          <a:xfrm>
            <a:off x="8869680" y="3913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457200" y="4709160"/>
            <a:ext cx="11292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3" name="Text 34"/>
          <p:cNvSpPr txBox="1"/>
          <p:nvPr/>
        </p:nvSpPr>
        <p:spPr>
          <a:xfrm>
            <a:off x="457200" y="4892040"/>
            <a:ext cx="11292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Nginx üzerinden gelir; uygulama JWT'yi Keycloak'a göre doğrular, gerektiğinde Vault'tan secret çeker, Consul'a kayıtlı diğer servisleri bulur ve Redis'i cache/lock için kullanır — her bileşen ayrı bir sorumluluğa sahiptir.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 &amp; Service Discovery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>
              <a:alpha val="70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Aklınızda Kalması Gerekenler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6" name="Image 0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2235251"/>
            <a:ext cx="211226" cy="2112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031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Vault: secret'lar asla koddan/config'ten değil, TTL'li ve audit'lenebilir merkezi bir depodan gelmelidir.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953512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9" name="Image 1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039923"/>
            <a:ext cx="211226" cy="21122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0779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Vault'ta gerçek güç “dynamic secrets”'te — statik şifre yerine anlık, kısa ömürlü kimlik bilgisi üretimi.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2" name="Image 2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3844595"/>
            <a:ext cx="211226" cy="21122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12464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Consul: servis adresleri hardcode edilmez; DNS/API ile dinamik ve sağlık-farkında (health-aware) keşif yapılır.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2960" y="4562856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5" name="Image 3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464926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51713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Keycloak/Redis/Nginx her biri farklı bir sorumluluğu üstlenir — kimlik, hız/paylaşılan durum, tek giriş noktası.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22960" y="5367528"/>
            <a:ext cx="384048" cy="384048"/>
          </a:xfrm>
          <a:prstGeom prst="ellipse">
            <a:avLst/>
          </a:prstGeom>
          <a:solidFill>
            <a:srgbClr val="00B8D9"/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18" name="Image 4" descr="/home/claude/pptx_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1" y="5453939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32180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bileşenlerin hepsi birlikte, gerçek bir production mimarisinin küçük ölçekli simülasyonunu oluşturur.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3643</Words>
  <Application>Microsoft Office PowerPoint</Application>
  <PresentationFormat>Geniş ekran</PresentationFormat>
  <Paragraphs>506</Paragraphs>
  <Slides>33</Slides>
  <Notes>33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Management &amp; Service Discovery</dc:title>
  <dc:subject>PptxGenJS Presentation</dc:subject>
  <dc:creator>Neominal Akademi</dc:creator>
  <cp:lastModifiedBy>Mert Alptekin (Egitici)</cp:lastModifiedBy>
  <cp:revision>2</cp:revision>
  <dcterms:created xsi:type="dcterms:W3CDTF">2026-08-31T17:54:09Z</dcterms:created>
  <dcterms:modified xsi:type="dcterms:W3CDTF">2026-09-01T10:52:09Z</dcterms:modified>
</cp:coreProperties>
</file>