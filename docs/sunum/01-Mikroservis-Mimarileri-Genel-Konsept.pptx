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1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88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SUNUMU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Mikroservis Mimarileri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Konsept, Tasarım Prensipleri ve Kullanılan Yaklaşımlar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8" name="Image 0" descr="/home/claude/pptx_work/icons/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4342303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481888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783080" y="42062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1" name="Image 1" descr="/home/claude/pptx_work/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143" y="434230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481888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743200" y="42062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4" name="Image 2" descr="/home/claude/pptx_work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9263" y="434230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514600" y="481888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703320" y="42062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7" name="Image 3" descr="/home/claude/pptx_work/icons/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9383" y="434230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474720" y="481888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663440" y="42062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0" name="Image 4" descr="/home/claude/pptx_work/icons/gau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9503" y="4342303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434840" y="481888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Microservices Mastery  —  Neominal Akademi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Derste Neler Var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work/icons/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20738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190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1: Temeller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267712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nedir, monolitten farkı, ne zaman tercih edilmeli, artı/eksileri, ölçeklenebilirlik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work/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34454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30906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2: Mimari Yapı Taşları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639312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patternler, veritabanı tasarımı, polyglot yaklaşım, resiliency, dağıtık transaction, cache, lock, consensus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663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x_work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" y="48170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" y="44622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3: Altyapı ve Kesişen Kaygılar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5010912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güvenlik, gateway ve service discovery yaklaşımları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KONSEPT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Mikroservis Mimarisi: Büyük Resim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uygulamayı, her biri tek bir iş yeteneğine (business capability) odaklanan, bağımsız olarak geliştirilebilen, deploy edilebilen ve ölçeklenebilen küçük servisler bütünü olarak inşa etme yaklaşımıdır.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743200" cy="1463040"/>
          </a:xfrm>
          <a:prstGeom prst="roundRect">
            <a:avLst>
              <a:gd name="adj" fmla="val 4375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24917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364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parça, tek deploy birimi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0" y="2697480"/>
            <a:ext cx="502920" cy="365760"/>
          </a:xfrm>
          <a:prstGeom prst="rightArrow">
            <a:avLst/>
          </a:prstGeom>
          <a:solidFill>
            <a:srgbClr val="00B8D9"/>
          </a:solidFill>
          <a:ln/>
        </p:spPr>
      </p:sp>
      <p:sp>
        <p:nvSpPr>
          <p:cNvPr id="11" name="Shape 8"/>
          <p:cNvSpPr/>
          <p:nvPr/>
        </p:nvSpPr>
        <p:spPr>
          <a:xfrm>
            <a:off x="4160520" y="2286000"/>
            <a:ext cx="105156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160520" y="228600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49240" y="2286000"/>
            <a:ext cx="105156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228600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B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37960" y="2286000"/>
            <a:ext cx="105156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37960" y="228600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C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12080" y="2715768"/>
            <a:ext cx="13716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2715768"/>
            <a:ext cx="13716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60520" y="32918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servisler,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veritabanı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909560" y="2148840"/>
            <a:ext cx="3703320" cy="1463040"/>
          </a:xfrm>
          <a:prstGeom prst="roundRect">
            <a:avLst>
              <a:gd name="adj" fmla="val 4375"/>
            </a:avLst>
          </a:prstGeom>
          <a:solidFill>
            <a:srgbClr val="141B4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138160" y="22677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derste sırasıyla göreceğiz: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138160" y="25603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prensipleri, mimari patternler, dayanıklılık, güvenlik, gözlemlenebilirlik ve altyapısal yaklaşımlar.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397764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1" descr="/home/claude/pptx_work/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4331970"/>
            <a:ext cx="251460" cy="25146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14300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Sorumluluk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1143000" y="449884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servis tek bir iş yeteneğine odaklanır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33756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2" descr="/home/claude/pptx_work/icons/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290" y="4331970"/>
            <a:ext cx="251460" cy="25146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393192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Deploy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3931920" y="449884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servis, diğerlerini etkilemeden güncellenir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12648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3" descr="/home/claude/pptx_wor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210" y="4331970"/>
            <a:ext cx="251460" cy="25146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72084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Merkezsiz Veri</a:t>
            </a:r>
            <a:endParaRPr lang="en-US" sz="1150" dirty="0"/>
          </a:p>
        </p:txBody>
      </p:sp>
      <p:sp>
        <p:nvSpPr>
          <p:cNvPr id="35" name="Text 29"/>
          <p:cNvSpPr txBox="1"/>
          <p:nvPr/>
        </p:nvSpPr>
        <p:spPr>
          <a:xfrm>
            <a:off x="6720840" y="449884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servis kendi veritabanını yönetir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891540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4" descr="/home/claude/pptx_work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30" y="4331970"/>
            <a:ext cx="251460" cy="25146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50976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İzolasyonu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9509760" y="449884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servisin çökmesi tüm sistemi düşürmez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" name="Image 0" descr="/home/claude/pptx_work/icons/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Temeller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251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nedir, monolitten farkı ve ne zaman tercih edilmeli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 Hizmet Nedir?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uygulamayı, gevşek bağlı (loosely coupled), bağımsız olarak dağıtılabilen küçük servisler koleksiyonu olarak yapılandıran bir mimari stildir.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042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2430018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2585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163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servis, tek ve net bir iş yeteneğinden sorumludur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63640" y="210312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3042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x_work/icons/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0" y="2430018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22585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Deploy Edilebilirlik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8163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servis güncellenirken diğerleri durmaz, yeniden deploy edilmez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37216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ptx_wor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3847338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6758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Veri Deposu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23367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Servisler birbirinin veritabanına doğrudan erişmez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263640" y="352044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EEF3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492240" y="37216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ptx_work/icons/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970" y="3847338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32320" y="36758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API/Mesajlaşma ile İletişim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492240" y="423367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Servisler HTTP/gRPC veya event tabanlı mesajlaşmayla konuşur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8640" y="493776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EEF3FC"/>
          </a:solidFill>
          <a:ln/>
        </p:spPr>
      </p:sp>
      <p:sp>
        <p:nvSpPr>
          <p:cNvPr id="26" name="Shape 20"/>
          <p:cNvSpPr/>
          <p:nvPr/>
        </p:nvSpPr>
        <p:spPr>
          <a:xfrm>
            <a:off x="777240" y="51389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/home/claude/pptx_work/icons/briefc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" y="5264658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17320" y="50932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Yeteneğine Göre Organizasyon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777240" y="565099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katmanlara değil, iş alanlarına (domain) göre bölünür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263640" y="493776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EEF3FC"/>
          </a:solidFill>
          <a:ln/>
        </p:spPr>
      </p:sp>
      <p:sp>
        <p:nvSpPr>
          <p:cNvPr id="31" name="Shape 24"/>
          <p:cNvSpPr/>
          <p:nvPr/>
        </p:nvSpPr>
        <p:spPr>
          <a:xfrm>
            <a:off x="6492240" y="51389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/home/claude/pptx_work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7970" y="5264658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132320" y="50932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Merkezsiz Yönetişim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6492240" y="565099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ekip kendi servisinin teknoloji/veritabanı seçimini yapabilir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Monolithic ve Microservices Arasındaki Farklar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0" y="1508760"/>
            <a:ext cx="356616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40480" y="1508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0" y="150876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00B8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508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11064240" cy="566928"/>
          </a:xfrm>
          <a:prstGeom prst="roundRect">
            <a:avLst>
              <a:gd name="adj" fmla="val 4839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98424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98424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parça, tüm uygulama birlikte deploy edilir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1984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— servis bazında deploy edilir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624328"/>
            <a:ext cx="11064240" cy="566928"/>
          </a:xfrm>
          <a:prstGeom prst="roundRect">
            <a:avLst>
              <a:gd name="adj" fmla="val 4839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62432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62432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uygulama birlikte ölçeklenir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262432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ihtiyaç duyulan servis ölçeklenir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64408"/>
            <a:ext cx="11064240" cy="566928"/>
          </a:xfrm>
          <a:prstGeom prst="roundRect">
            <a:avLst>
              <a:gd name="adj" fmla="val 4839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26440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26440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dil / framework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26440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— her servis kendi stack'ini seçebilir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904488"/>
            <a:ext cx="11064240" cy="566928"/>
          </a:xfrm>
          <a:prstGeom prst="roundRect">
            <a:avLst>
              <a:gd name="adj" fmla="val 4839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90448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90448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Tek, paylaşılan veritabanı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390448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 service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44568"/>
            <a:ext cx="11064240" cy="566928"/>
          </a:xfrm>
          <a:prstGeom prst="roundRect">
            <a:avLst>
              <a:gd name="adj" fmla="val 4839"/>
            </a:avLst>
          </a:prstGeom>
          <a:solidFill>
            <a:srgbClr val="EEF3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454456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yapısı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454456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Büyük, tek merkezi ekip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45445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Küçük, bağımsız (two-pizza) ekipler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184648"/>
            <a:ext cx="11064240" cy="566928"/>
          </a:xfrm>
          <a:prstGeom prst="roundRect">
            <a:avLst>
              <a:gd name="adj" fmla="val 4839"/>
            </a:avLst>
          </a:prstGeom>
          <a:solidFill>
            <a:srgbClr val="EEF3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518464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izolasyonu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840480" y="518464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hata tüm sistemi düşürebilir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51846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genelde tek servisle sınırlı kalır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824728"/>
            <a:ext cx="11064240" cy="566928"/>
          </a:xfrm>
          <a:prstGeom prst="roundRect">
            <a:avLst>
              <a:gd name="adj" fmla="val 4839"/>
            </a:avLst>
          </a:prstGeom>
          <a:solidFill>
            <a:srgbClr val="EEF3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" y="582472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hızı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840480" y="582472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— basit kurulum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498080" y="582472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Yavaş — altyapı karmaşıklığı fazla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Mikroservisler Hangi Proje Tiplerine Uygundur?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OLDUĞU DURUMLAR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594360"/>
          </a:xfrm>
          <a:prstGeom prst="roundRect">
            <a:avLst>
              <a:gd name="adj" fmla="val 6154"/>
            </a:avLst>
          </a:prstGeom>
          <a:solidFill>
            <a:srgbClr val="E9F7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Büyük, uzun ömürlü ve sık değişen uygulamalar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394960" cy="594360"/>
          </a:xfrm>
          <a:prstGeom prst="roundRect">
            <a:avLst>
              <a:gd name="adj" fmla="val 6154"/>
            </a:avLst>
          </a:prstGeom>
          <a:solidFill>
            <a:srgbClr val="E9F7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468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fazla ekibin paralel çalışması gereken projeler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394960" cy="594360"/>
          </a:xfrm>
          <a:prstGeom prst="roundRect">
            <a:avLst>
              <a:gd name="adj" fmla="val 6154"/>
            </a:avLst>
          </a:prstGeom>
          <a:solidFill>
            <a:srgbClr val="E9F7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1546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Modüllerin farklı ölçek ihtiyacı olduğu sistemler (örn. e-ticaret)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394960" cy="594360"/>
          </a:xfrm>
          <a:prstGeom prst="roundRect">
            <a:avLst>
              <a:gd name="adj" fmla="val 6154"/>
            </a:avLst>
          </a:prstGeom>
          <a:solidFill>
            <a:srgbClr val="E9F7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8404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trafikli, sürekli büyüyen SaaS platformları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OLMADIĞI DURUMLAR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394960" cy="594360"/>
          </a:xfrm>
          <a:prstGeom prst="roundRect">
            <a:avLst>
              <a:gd name="adj" fmla="val 6154"/>
            </a:avLst>
          </a:prstGeom>
          <a:solidFill>
            <a:srgbClr val="FBEA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17830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Küçük, basit uygulamalar veya MVP/prototipler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2468880"/>
            <a:ext cx="5394960" cy="594360"/>
          </a:xfrm>
          <a:prstGeom prst="roundRect">
            <a:avLst>
              <a:gd name="adj" fmla="val 6154"/>
            </a:avLst>
          </a:prstGeom>
          <a:solidFill>
            <a:srgbClr val="FBEA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2468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kişilik küçük ekipler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3154680"/>
            <a:ext cx="5394960" cy="594360"/>
          </a:xfrm>
          <a:prstGeom prst="roundRect">
            <a:avLst>
              <a:gd name="adj" fmla="val 6154"/>
            </a:avLst>
          </a:prstGeom>
          <a:solidFill>
            <a:srgbClr val="FBEA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31546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Sıkı deadline'lı, hızlı teslim gereken projeler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5394960" cy="594360"/>
          </a:xfrm>
          <a:prstGeom prst="roundRect">
            <a:avLst>
              <a:gd name="adj" fmla="val 6154"/>
            </a:avLst>
          </a:prstGeom>
          <a:solidFill>
            <a:srgbClr val="FBEA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8404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Olgun bir DevOps/CI-CD kültürü olmayan organizasyonlar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41B4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82803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Fowler'ın “Monolith First” prensibi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 proje için önerilen yol: küçük ve basit (monolit) başlayın, sınırları netleştikçe ve gerçek bir ölçekleme/ekip ihtiyacı doğduğunda mikroservislere bölün —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baştan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r>
              <a:rPr lang="tr-TR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engirneering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yapmayın.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Avantajlar ve Dezavantajlar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146C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AVANTAJLAR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7" name="Image 0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39696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0116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deploy ve ölçekleme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624328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10" name="Image 1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70662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25786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özgürlüğü (polyglot)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191256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13" name="Image 2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27355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314553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izolasyonu — bir servis çökse bile diğerleri ayakta kalır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0080" y="3758184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16" name="Image 3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84048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71246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Takım özerkliği ve paralel geliştirme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19" name="Image 4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407408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43000" y="427939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teslimat (CI/CD) kolaylığı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6263640" y="1463040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6263640" y="1463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DEZAVANTAJLAR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355080" y="2057400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24" name="Image 5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13969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858000" y="20116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Dağıtık sistem karmaşıklığı (ağ gecikmesi, kısmi hata)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6355080" y="2624328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27" name="Image 6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706624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858000" y="25786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operasyonel yük (CI/CD, izleme, servis keşfi)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6355080" y="3191256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0" name="Image 7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3273552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858000" y="314553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tutarlılığı zorluğu — dağıtık transaction yok</a:t>
            </a:r>
            <a:endParaRPr lang="en-US" sz="1050" dirty="0"/>
          </a:p>
        </p:txBody>
      </p:sp>
      <p:sp>
        <p:nvSpPr>
          <p:cNvPr id="32" name="Shape 22"/>
          <p:cNvSpPr/>
          <p:nvPr/>
        </p:nvSpPr>
        <p:spPr>
          <a:xfrm>
            <a:off x="6355080" y="3758184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3" name="Image 8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3840480"/>
            <a:ext cx="201168" cy="201168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858000" y="371246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testlerinin karmaşıklaşması</a:t>
            </a:r>
            <a:endParaRPr lang="en-US" sz="1050" dirty="0"/>
          </a:p>
        </p:txBody>
      </p:sp>
      <p:sp>
        <p:nvSpPr>
          <p:cNvPr id="35" name="Shape 24"/>
          <p:cNvSpPr/>
          <p:nvPr/>
        </p:nvSpPr>
        <p:spPr>
          <a:xfrm>
            <a:off x="6355080" y="4325112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6" name="Image 9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407408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6858000" y="427939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güvenilirliğine bağımlılık</a:t>
            </a:r>
            <a:endParaRPr lang="en-US" sz="1050" dirty="0"/>
          </a:p>
        </p:txBody>
      </p:sp>
      <p:sp>
        <p:nvSpPr>
          <p:cNvPr id="38" name="Text 26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trade-off, mimari kararın merkezinde yer alır — mikroservis “iyi” ya da “kötü” değildir, doğru bağlamda doğru bir seçimdir.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4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Mikroservislerde Ölçeklendirilebilirlik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AKF Ölçeklendirme Küpü (Scale Cube), sistemleri üç eksende ölçeklendirmeyi tanımlar: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1988820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331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9718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Ekseni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461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Yatay Kopyalama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11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servisin birden fazla instance'ı, load balancer arkasında çalışır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97680" y="192024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/>
        </p:spPr>
      </p:sp>
      <p:sp>
        <p:nvSpPr>
          <p:cNvPr id="12" name="Shape 9"/>
          <p:cNvSpPr/>
          <p:nvPr/>
        </p:nvSpPr>
        <p:spPr>
          <a:xfrm>
            <a:off x="5737860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pptx_work/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331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29718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Ekseni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434840" y="32461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Fonksiyonel Ayrıştırma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3611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Uygulamanın kendisinin mikroservislere bölünmesi — bu eksen mikroservislerin ta kendisidir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046720" y="192024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/>
        </p:spPr>
      </p:sp>
      <p:sp>
        <p:nvSpPr>
          <p:cNvPr id="18" name="Shape 14"/>
          <p:cNvSpPr/>
          <p:nvPr/>
        </p:nvSpPr>
        <p:spPr>
          <a:xfrm>
            <a:off x="9486900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pptx_wor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0" y="23317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83880" y="29718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Ekseni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183880" y="32461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Partisyonlama</a:t>
            </a:r>
            <a:r>
              <a:rPr lang="tr-TR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275320" y="3611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Veri, bir anahtara göre (örn. müşteri ID) parçalara (shard) bölünür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77240" y="44622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Verimliliği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777240" y="47548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Monolitte tüm uygulamayı ölçeklemek zorundasınız. Mikroserviste sadece trafiği yoğun olan servisi (örn. “ürün arama”) ölçeklendirirsiniz — diğer servisler aynı kaynak seviyesinde kalır. Bu, kaynak kullanımını doğrudan iş ihtiyacına göre optimize eder.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" name="Image 0" descr="/home/claude/pptx_work/icons/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Mimari Yapı Taşları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251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Patternler, veri tasarımı, dayanıklılık ve tutarlılık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Mikroservislerde Kullanılan Temel Patternler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8630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1907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giriş noktası, cross-cutting concern'leri merkezi yönetme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work/icon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290" y="18630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74920" y="171907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3317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Servislerin birbirini dinamik olarak bulması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x_work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5330" y="18630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23960" y="171907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3317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hata veren servise istek göndermeyi geçici durdurma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48640" y="320040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31520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x_work/icons/exch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50901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364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39776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Dağıtık transaction'ı, telafi edilebilir adımlara bölme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297680" y="320040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480560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ptx_work/icons/list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290" y="350901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74920" y="3364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39776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 ve yazma modellerini ayrıştırma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8046720" y="320040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229600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pptx_work/icons/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5330" y="350901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23960" y="3364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39776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Durumu, olayların (event) sıralı kaydı olarak saklama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548640" y="484632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35" name="Shape 27"/>
          <p:cNvSpPr/>
          <p:nvPr/>
        </p:nvSpPr>
        <p:spPr>
          <a:xfrm>
            <a:off x="731520" y="5029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/home/claude/pptx_work/icons/plu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5154930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325880" y="501091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731520" y="56235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concern'leri ayrı bir yardımcı process'e taşıma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4297680" y="484632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40" name="Shape 31"/>
          <p:cNvSpPr/>
          <p:nvPr/>
        </p:nvSpPr>
        <p:spPr>
          <a:xfrm>
            <a:off x="4480560" y="5029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/home/claude/pptx_work/icons/lay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6290" y="5154930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074920" y="501091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4480560" y="56235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Monoliti kademeli olarak mikroservislere geçirme</a:t>
            </a:r>
            <a:endParaRPr lang="en-US" sz="850" dirty="0"/>
          </a:p>
        </p:txBody>
      </p:sp>
      <p:sp>
        <p:nvSpPr>
          <p:cNvPr id="44" name="Shape 34"/>
          <p:cNvSpPr/>
          <p:nvPr/>
        </p:nvSpPr>
        <p:spPr>
          <a:xfrm>
            <a:off x="8046720" y="484632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45" name="Shape 35"/>
          <p:cNvSpPr/>
          <p:nvPr/>
        </p:nvSpPr>
        <p:spPr>
          <a:xfrm>
            <a:off x="8229600" y="5029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8" descr="/home/claude/pptx_work/icons/usersh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5330" y="5154930"/>
            <a:ext cx="251460" cy="25146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823960" y="501091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</a:t>
            </a:r>
            <a:endParaRPr lang="en-US" sz="1200" dirty="0"/>
          </a:p>
        </p:txBody>
      </p:sp>
      <p:sp>
        <p:nvSpPr>
          <p:cNvPr id="48" name="Text 37"/>
          <p:cNvSpPr txBox="1"/>
          <p:nvPr/>
        </p:nvSpPr>
        <p:spPr>
          <a:xfrm>
            <a:off x="8229600" y="56235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istemci tipi (web/mobil) için özel bir backend</a:t>
            </a:r>
            <a:endParaRPr lang="en-US" sz="850" dirty="0"/>
          </a:p>
        </p:txBody>
      </p:sp>
      <p:sp>
        <p:nvSpPr>
          <p:cNvPr id="49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Mikroservis Mimarilerinde Veritabanı Tasarımı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prensip: “Database per Service” — her servis kendi veritabanına sahiptir ve başka bir servisin veritabanına asla doğrudan erişemez.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29000" cy="1371600"/>
          </a:xfrm>
          <a:prstGeom prst="roundRect">
            <a:avLst>
              <a:gd name="adj" fmla="val 466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2034540" y="2377440"/>
            <a:ext cx="640080" cy="64008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7" name="Image 0" descr="/home/claude/pptx_wor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5374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1089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Servisi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3649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429000" cy="1371600"/>
          </a:xfrm>
          <a:prstGeom prst="roundRect">
            <a:avLst>
              <a:gd name="adj" fmla="val 4667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5737860" y="2377440"/>
            <a:ext cx="640080" cy="64008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2" name="Image 1" descr="/home/claude/pptx_wor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5374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34840" y="31089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Servisi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434840" y="33649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46720" y="2194560"/>
            <a:ext cx="3429000" cy="1371600"/>
          </a:xfrm>
          <a:prstGeom prst="roundRect">
            <a:avLst>
              <a:gd name="adj" fmla="val 4667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9441180" y="2377440"/>
            <a:ext cx="640080" cy="64008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7" name="Image 2" descr="/home/claude/pptx_wor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5374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38160" y="31089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Servisi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8138160" y="33649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ptx_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418338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34440" y="40507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Neden?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3291840" y="39776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Gevşek bağlılık sağlar; her servis kendi şemasını bağımsız değiştirebilir, ihtiyacına en uygun veritabanı teknolojisini seçebilir.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ptx_work/icons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505206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49194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Zorluk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3291840" y="4846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Servisler arası SQL JOIN yapılamaz — veri birleştirme için API composition veya CQRS gibi yaklaşımlar gerekir.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Polyglot Servis Mantığı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servisin, işine en uygun programlama dili ve veritabanı teknolojisini bağımsız olarak seçebilmesi ilkesidir. İki boyutu vardır: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4003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2402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Programming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57860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servis .NET, biri Node.js, biri Go ile yazılabilir — dil seçimi servis bazında yapılır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2057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x_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24003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22402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269480" y="257860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servis, verisinin doğasına uygun veritabanı türünü seçer (ilişkisel, doküman, graph, key-value)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EŞLEŞMELER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11064240" cy="502920"/>
          </a:xfrm>
          <a:prstGeom prst="roundRect">
            <a:avLst>
              <a:gd name="adj" fmla="val 5455"/>
            </a:avLst>
          </a:prstGeom>
          <a:solidFill>
            <a:srgbClr val="EEF3F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840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kataloğu / arama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3840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4416552"/>
            <a:ext cx="11064240" cy="502920"/>
          </a:xfrm>
          <a:prstGeom prst="roundRect">
            <a:avLst>
              <a:gd name="adj" fmla="val 5455"/>
            </a:avLst>
          </a:prstGeom>
          <a:solidFill>
            <a:srgbClr val="EEF3F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44165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/ ödeme (ACID gerekir)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8595360" y="44165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48640" y="4992624"/>
            <a:ext cx="11064240" cy="502920"/>
          </a:xfrm>
          <a:prstGeom prst="roundRect">
            <a:avLst>
              <a:gd name="adj" fmla="val 5455"/>
            </a:avLst>
          </a:prstGeom>
          <a:solidFill>
            <a:srgbClr val="EEF3FC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31520" y="499262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/ cache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8595360" y="499262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48640" y="5568696"/>
            <a:ext cx="11064240" cy="502920"/>
          </a:xfrm>
          <a:prstGeom prst="roundRect">
            <a:avLst>
              <a:gd name="adj" fmla="val 5455"/>
            </a:avLst>
          </a:prstGeom>
          <a:solidFill>
            <a:srgbClr val="EEF3FC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31520" y="556869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ilişki grafiği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8595360" y="556869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(Graph DB)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Esneklik artar, ama operasyonel karmaşıklık ve gereken uzmanlık çeşitliliği de artar.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Resiliency Patternleri (Dayanıklılık)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gecikmeleri, geçici hatalar ve kısmi çökmeler dağıtık sistemlerde kaçınılmazdır — resiliency patternleri bunların etkisini sınırlar.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4917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3317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17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servis sürekli hata veriyorsa devreyi keser, hızlıca hata döner — sistemin tamamen çökmesini önler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63640" y="205740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x_work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24917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23317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3017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Geçici hatalarda, exponential backoff ile otomatik yeniden deneme yapar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ptx_work/icons/heartb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3662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4206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48920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isteğin sonsuza kadar beklenmesini engeller, belirli sürede vazgeçer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263640" y="393192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EEF3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537960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ptx_work/icons/lay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43662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60920" y="4206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Bulkhead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537960" y="48920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Kaynakları izole eder — bir servisin thread pool'u dolarsa diğerlerini etkilemez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.NET ekosisteminde Polly kütüphanesi, bu dört pattern'in tamamını hazır olarak sağlar.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Veritabanı Tutarlılığı: Distributed Transaction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2PC (Two-Phase Commit), dağıtık ortamda kaynakları uzun süre kilitler ve ölçeklenmez. Çözüm: Saga Pattern.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Oluştur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2212848"/>
            <a:ext cx="320040" cy="274320"/>
          </a:xfrm>
          <a:prstGeom prst="rightArrow">
            <a:avLst/>
          </a:prstGeom>
          <a:solidFill>
            <a:srgbClr val="00B8D9"/>
          </a:solidFill>
          <a:ln/>
        </p:spPr>
      </p:sp>
      <p:sp>
        <p:nvSpPr>
          <p:cNvPr id="8" name="Shape 6"/>
          <p:cNvSpPr/>
          <p:nvPr/>
        </p:nvSpPr>
        <p:spPr>
          <a:xfrm>
            <a:off x="3566160" y="20116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2011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2212848"/>
            <a:ext cx="320040" cy="274320"/>
          </a:xfrm>
          <a:prstGeom prst="rightArrow">
            <a:avLst/>
          </a:prstGeom>
          <a:solidFill>
            <a:srgbClr val="00B8D9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0116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2011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Düş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20116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Başarısız!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457200" cy="320040"/>
          </a:xfrm>
          <a:prstGeom prst="leftArrow">
            <a:avLst/>
          </a:prstGeom>
          <a:solidFill>
            <a:srgbClr val="B3261E"/>
          </a:solidFill>
          <a:ln/>
        </p:spPr>
      </p:sp>
      <p:sp>
        <p:nvSpPr>
          <p:cNvPr id="15" name="Shape 13"/>
          <p:cNvSpPr/>
          <p:nvPr/>
        </p:nvSpPr>
        <p:spPr>
          <a:xfrm>
            <a:off x="3566160" y="274320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BEA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66160" y="2743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Compensating: Ödeme İadesi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4048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EF3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8404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Choreography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3840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Servisler event'lerle birbirini tetikler — merkezi koordinatör yoktur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36592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EF3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7365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4736592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bir orkestratör tüm adımları yönetir ve sırayla tetikler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692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Strong consistency yerine “eventual consistency” (nihai tutarlılık) kabul edilir.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Mikroservis Mimarilerinde Ön Bellekleme (Cache)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okunan, nadiren değişen veriyi veritabanı önünde tutarak hem yükü azaltır hem de yanıt sürelerini kısaltır.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3202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1488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210312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önce cache'e bakar, yoksa DB'den çekip cache'e yazar — en yaygın strateji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work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0975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926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Write-Through / Write-Behind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28803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Yazma anında ya da gecikmeli olarak cache'in güncel tutulması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x_work/icons/list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38747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3703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ve Eviction Policy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4389120" y="365760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Verinin ne kadar süre saklanacağı ve bellek dolunca hangi key'in silineceği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77240" y="4892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konu “Secret Management &amp; Service Discovery” sunumunda (Redis bölümü) ayrıntılı işlenmiştir: veri yapıları, distributed lock, pub/sub ve gerçek kod örnekleriyle.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Lock Mekanizması Nedir?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fazla servis instance'ının aynı kritik işi aynı anda yapmasını engellemek için kullanılan kilitleme mekanizmasıdır.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6746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Yöntem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260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key value NX EX 30 — sadece key yoksa yazar (kilidi alır), süre dolunca otomatik düşer. Ama tek node bir single point of failure oluşturur.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228600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514600"/>
            <a:ext cx="640080" cy="64008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2" name="Image 1" descr="/home/claude/pptx_work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26746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Redlock Algoritması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55080" y="29260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ortamında birden fazla bağımsız Redis instance'ında (örn. 5) çoğunluğun (3/5) kilidi vermesi beklenir — tek node'un çökmesi kilidi geçersiz kılmaz.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alanları: Zamanlanmış job'ların tek instance'ta çalışması, kritik bölge (critical section) koruması, kaynak rezervasyonu.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Mikroservis Mimarilerinde Consensus Kavramı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fazla bağımsız node'un, ağ gecikmeleri ve kısmi hatalar olsa bile tek bir doğru değer üzerinde anlaşmaya varmasını sağlayan mekanizmadır.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240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21488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bir sunucu grubunda (3-5) lider seçimi ve log replikasyonuyla güçlü tutarlılık sağlar — Consul, etcd bu şekilde çalışır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work/icons/broad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832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(Serf/SWIM)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31089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Binlerce node'a, merkezi koordinatör olmadan üyelik ve sağlık bilgisini yaymak için kullanılır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FF6E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77240" y="45537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8463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Dağıtık sistemlerde “kim lider”, “hangi veri doğru” gibi sorular merkezi bir otorite olmadan cevaplanmalıdır. Consensus algoritmaları, split-brain (iki liderin aynı anda var olması) gibi tehlikeli durumları matematiksel olarak imkânsız hale getirir.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" name="Image 0" descr="/home/claude/pptx_work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Altyapı ve Kesişen Kaygılar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251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güvenlik, gateway ve service discovery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Observability'nin Önemi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monitoring'den farkı: sistemin sadece durumunu değil, o duruma NEDEN geldiğini anlamaya odaklanır. Üç sacayağı vardır: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2034540" y="23774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l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420" y="2560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00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20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oldu?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16552" y="219456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5811012" y="23774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x_work/icons/tra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892" y="2560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9432" y="3200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3520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Nerede, hangi adımda?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93024" y="219456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9587484" y="23774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ptx_work/icons/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364" y="2560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75904" y="3200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375904" y="3520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kadar / kaç tane?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3977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Mikroservislerde bir istek onlarca serviste geçebilir — hangi adımda sorun oluştuğunu tek bir stack trace ile bulamazsınız, üç sacayağının birlikte korelasyonuna ihtiyaç vardır.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7091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77240" y="4709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konu “Microservices Observability” sunumunda 18 slaytla ayrıntılı işlenmiştir: Serilog+Seq, OpenTelemetry+Jaeger, Prometheus+Grafana ve gerçek kod örnekleri.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Güvenlik: Kimlik Doğrulama ve Yetkilendirme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serviste ayrı bir kullanıcı sistemi kurmak sürdürülemez — merkezi bir Identity Provider ve standart token tabanlı yaklaşım gerekir.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user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4117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21284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Identity Provider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2148840"/>
            <a:ext cx="6903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gibi bir IAM çözümü ile SSO — tek giriş, tüm servislerde geçerli oturum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3182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work/icons/id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307842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31089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ile Token Tabanlı Doğrulama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044952"/>
            <a:ext cx="6903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servis, gelen token'ı Identity Provider'ın public key'iyle bağımsız doğrular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40782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x_work/icons/puzz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4203954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400507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OIDC Grant Türleri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709160" y="3941064"/>
            <a:ext cx="6903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+ PKCE (SPA/mobil), Client Credentials (servis-servis) gibi senaryoya uygun akışlar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77240" y="5029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konu “Secret Management &amp; Service Discovery” sunumunda (Keycloak bölümü) JWT anatomisi, grant türleri ve .NET entegrasyon koduyla ayrıntılı işlenmiştir.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Mikroservis Mimarilerinde Gateway Yaklaşımı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 ile servisler arasına giren tek giriş noktası (edge) — cross-cutting concern'leri (auth, rate limiting, loglama) merkezi olarak yönetir.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1988820" y="2468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651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2918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3931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amaçlı, dile bağımsız reverse proxy — TLS termination ve load balancing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7680" y="228600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5737860" y="2468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x_work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6517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34840" y="32918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YARP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363931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Microsoft'un .NET-native, kod-öncelikli, yüksek performanslı proxy toolkit'i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8046720" y="228600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9486900" y="2468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ptx_work/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0" y="2651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83880" y="32918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363931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için hazır özellikli (rate limit/cache/aggregation) gateway kütüphanesi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48640" y="44348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77240" y="4434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konu “Microservices Observability” sunumunda YARP vs Ocelot karşılaştırma tablosuyla, “Secret Management” sunumunda ise Nginx mimarisiyle ayrıntılı işlenmiştir.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Mikroservis Mimarilerinde Service Discovery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instance'larının IP adresleri dinamik ortamda sürekli değişir — hardcoded adresler yerine dinamik keşif mekanizması gerekir.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4117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2128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(Consul)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2148840"/>
            <a:ext cx="6629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veya HTTP API ile bir servisin adını verip sağlıklı instance adreslerini alma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3182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work/icons/heartb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307842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31089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Checking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3044952"/>
            <a:ext cx="6629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Sağlıksız instance'lar otomatik olarak keşif listesinden çıkarılır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40782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x_work/icons/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4203954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400507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vs Server-side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983480" y="3941064"/>
            <a:ext cx="6629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 doğrudan discovery servisine mi sorar, yoksa bir proxy mi bu işi üstlenir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77240" y="5029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konu “Secret Management &amp; Service Discovery” sunumunda Consul mimarisi (Raft, Gossip, health check türleri) ile ayrıntılı işlenmiştir.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Mimarileri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4300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Aklınızda Kalması Gerekenler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6" name="Image 0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2189531"/>
            <a:ext cx="211226" cy="2112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05740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Mikroservis, tek başına “iyi” bir seçim değildir — doğru bağlamda (büyük, uzun ömürlü, çok ekipli) doğru bir tercihtir.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9" name="Image 1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3012491"/>
            <a:ext cx="211226" cy="21122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88036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mimari kararın (veritabanı, cache, transaction) temelinde “bağımsızlık ile tutarlılık” arasında bir denge vardır.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2" name="Image 2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3835451"/>
            <a:ext cx="211226" cy="21122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0332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Resiliency (Circuit Breaker, Retry, Bulkhead) olmadan dağıtık sistemler kırılgan kalır.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22960" y="457200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5" name="Image 3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4658411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52628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güvenlik, gateway ve service discovery — bunlar “eklenti” değil, mimarinin ayrılmaz parçalarıdır.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22960" y="539496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8" name="Image 4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5481371"/>
            <a:ext cx="211226" cy="21122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17320" y="53492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dersteki her başlık, projemizin ayrı sunumlarında (Observability, Secret Management &amp; Service Discovery) çok daha derinlemesine işlenmiştir.</a:t>
            </a:r>
            <a:endParaRPr lang="en-US" sz="1250" dirty="0"/>
          </a:p>
        </p:txBody>
      </p:sp>
      <p:sp>
        <p:nvSpPr>
          <p:cNvPr id="20" name="Text 13"/>
          <p:cNvSpPr txBox="1"/>
          <p:nvPr/>
        </p:nvSpPr>
        <p:spPr>
          <a:xfrm>
            <a:off x="82296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Sorular?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2076</Words>
  <Application>Microsoft Office PowerPoint</Application>
  <PresentationFormat>Geniş ekran</PresentationFormat>
  <Paragraphs>345</Paragraphs>
  <Slides>24</Slides>
  <Notes>24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Mikroservis Mimarileri - Genel Konsept</dc:title>
  <dc:subject>PptxGenJS Presentation</dc:subject>
  <dc:creator>Neominal Akademi</dc:creator>
  <cp:lastModifiedBy>Mert Alptekin (Egitici)</cp:lastModifiedBy>
  <cp:revision>3</cp:revision>
  <dcterms:created xsi:type="dcterms:W3CDTF">2026-09-01T11:10:31Z</dcterms:created>
  <dcterms:modified xsi:type="dcterms:W3CDTF">2026-09-24T12:10:20Z</dcterms:modified>
</cp:coreProperties>
</file>